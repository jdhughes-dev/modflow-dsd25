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0"/>
  </p:notesMasterIdLst>
  <p:sldIdLst>
    <p:sldId id="284" r:id="rId3"/>
    <p:sldId id="285" r:id="rId4"/>
    <p:sldId id="286" r:id="rId5"/>
    <p:sldId id="279" r:id="rId6"/>
    <p:sldId id="4584" r:id="rId7"/>
    <p:sldId id="280" r:id="rId8"/>
    <p:sldId id="257" r:id="rId9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65" autoAdjust="0"/>
    <p:restoredTop sz="72613" autoAdjust="0"/>
  </p:normalViewPr>
  <p:slideViewPr>
    <p:cSldViewPr snapToGrid="0">
      <p:cViewPr varScale="1">
        <p:scale>
          <a:sx n="78" d="100"/>
          <a:sy n="78" d="100"/>
        </p:scale>
        <p:origin x="1788" y="8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bleStyles" Target="tableStyle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svg"/><Relationship Id="rId1" Type="http://schemas.openxmlformats.org/officeDocument/2006/relationships/image" Target="../media/image16.png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19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svg"/><Relationship Id="rId1" Type="http://schemas.openxmlformats.org/officeDocument/2006/relationships/image" Target="../media/image16.png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1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FBA3FD5-8DFF-47C2-B0EC-13A7AD8016D0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B85E06C4-0E6D-4785-BE90-4F16C20D05A0}">
      <dgm:prSet/>
      <dgm:spPr/>
      <dgm:t>
        <a:bodyPr/>
        <a:lstStyle/>
        <a:p>
          <a:r>
            <a:rPr lang="en-GB" dirty="0"/>
            <a:t>Your badge serves as your ticket for lunch</a:t>
          </a:r>
          <a:endParaRPr lang="en-US" dirty="0"/>
        </a:p>
      </dgm:t>
    </dgm:pt>
    <dgm:pt modelId="{B1AD0D62-4874-479B-8C92-A1D0ABD01A2E}" type="parTrans" cxnId="{5B0833B8-F02C-481F-B35D-05C2B7D27D71}">
      <dgm:prSet/>
      <dgm:spPr/>
      <dgm:t>
        <a:bodyPr/>
        <a:lstStyle/>
        <a:p>
          <a:endParaRPr lang="en-US"/>
        </a:p>
      </dgm:t>
    </dgm:pt>
    <dgm:pt modelId="{479509F6-198E-4651-95D4-DE509C5BE289}" type="sibTrans" cxnId="{5B0833B8-F02C-481F-B35D-05C2B7D27D71}">
      <dgm:prSet/>
      <dgm:spPr/>
      <dgm:t>
        <a:bodyPr/>
        <a:lstStyle/>
        <a:p>
          <a:endParaRPr lang="en-US"/>
        </a:p>
      </dgm:t>
    </dgm:pt>
    <dgm:pt modelId="{990B369E-DD38-4BD4-A24C-ACFECB2AE5A5}">
      <dgm:prSet/>
      <dgm:spPr/>
      <dgm:t>
        <a:bodyPr/>
        <a:lstStyle/>
        <a:p>
          <a:r>
            <a:rPr lang="en-GB"/>
            <a:t>Wi-Fi: Connect to the Eduroam network (password was sent via email)</a:t>
          </a:r>
          <a:endParaRPr lang="en-US"/>
        </a:p>
      </dgm:t>
    </dgm:pt>
    <dgm:pt modelId="{6529A42A-424F-4D1A-80FE-0EDA19E9E03C}" type="parTrans" cxnId="{F1C1B81E-D610-4D20-9DB2-7135186E9855}">
      <dgm:prSet/>
      <dgm:spPr/>
      <dgm:t>
        <a:bodyPr/>
        <a:lstStyle/>
        <a:p>
          <a:endParaRPr lang="en-US"/>
        </a:p>
      </dgm:t>
    </dgm:pt>
    <dgm:pt modelId="{67F4D13D-05B9-4D83-9090-546E31B60294}" type="sibTrans" cxnId="{F1C1B81E-D610-4D20-9DB2-7135186E9855}">
      <dgm:prSet/>
      <dgm:spPr/>
      <dgm:t>
        <a:bodyPr/>
        <a:lstStyle/>
        <a:p>
          <a:endParaRPr lang="en-US"/>
        </a:p>
      </dgm:t>
    </dgm:pt>
    <dgm:pt modelId="{F565A773-2BD1-40DB-89AE-900DF6598EA4}">
      <dgm:prSet/>
      <dgm:spPr/>
      <dgm:t>
        <a:bodyPr/>
        <a:lstStyle/>
        <a:p>
          <a:r>
            <a:rPr lang="en-GB" dirty="0"/>
            <a:t>Please note, a photographer </a:t>
          </a:r>
          <a:r>
            <a:rPr lang="en-GB" i="1" dirty="0"/>
            <a:t>might</a:t>
          </a:r>
          <a:r>
            <a:rPr lang="en-GB" dirty="0"/>
            <a:t> be present</a:t>
          </a:r>
          <a:endParaRPr lang="en-US" dirty="0"/>
        </a:p>
      </dgm:t>
    </dgm:pt>
    <dgm:pt modelId="{DD3BBFFB-D4F9-4A44-95B7-C2DA3737912C}" type="parTrans" cxnId="{573BEEDD-C461-4F52-8A97-8267EB9C260E}">
      <dgm:prSet/>
      <dgm:spPr/>
      <dgm:t>
        <a:bodyPr/>
        <a:lstStyle/>
        <a:p>
          <a:endParaRPr lang="en-US"/>
        </a:p>
      </dgm:t>
    </dgm:pt>
    <dgm:pt modelId="{89A19FCA-1A7F-46E7-B691-DAE9052F2B71}" type="sibTrans" cxnId="{573BEEDD-C461-4F52-8A97-8267EB9C260E}">
      <dgm:prSet/>
      <dgm:spPr/>
      <dgm:t>
        <a:bodyPr/>
        <a:lstStyle/>
        <a:p>
          <a:endParaRPr lang="en-US"/>
        </a:p>
      </dgm:t>
    </dgm:pt>
    <dgm:pt modelId="{97595C2E-6DF0-44BC-B17A-0DC54C3AF23F}" type="pres">
      <dgm:prSet presAssocID="{6FBA3FD5-8DFF-47C2-B0EC-13A7AD8016D0}" presName="root" presStyleCnt="0">
        <dgm:presLayoutVars>
          <dgm:dir/>
          <dgm:resizeHandles val="exact"/>
        </dgm:presLayoutVars>
      </dgm:prSet>
      <dgm:spPr/>
    </dgm:pt>
    <dgm:pt modelId="{8FC8F573-9431-4C36-B94F-20672F5B9C2F}" type="pres">
      <dgm:prSet presAssocID="{B85E06C4-0E6D-4785-BE90-4F16C20D05A0}" presName="compNode" presStyleCnt="0"/>
      <dgm:spPr/>
    </dgm:pt>
    <dgm:pt modelId="{B59DFBF0-797A-468B-9C55-3062028EED9C}" type="pres">
      <dgm:prSet presAssocID="{B85E06C4-0E6D-4785-BE90-4F16C20D05A0}" presName="bgRect" presStyleLbl="bgShp" presStyleIdx="0" presStyleCnt="3" custLinFactNeighborY="2442"/>
      <dgm:spPr/>
    </dgm:pt>
    <dgm:pt modelId="{84CA9DA3-12E2-4D23-861B-E375F349E2A4}" type="pres">
      <dgm:prSet presAssocID="{B85E06C4-0E6D-4785-BE90-4F16C20D05A0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mployee Badge"/>
        </a:ext>
      </dgm:extLst>
    </dgm:pt>
    <dgm:pt modelId="{117AE54C-A92F-405A-9185-5D4EC58D9E4D}" type="pres">
      <dgm:prSet presAssocID="{B85E06C4-0E6D-4785-BE90-4F16C20D05A0}" presName="spaceRect" presStyleCnt="0"/>
      <dgm:spPr/>
    </dgm:pt>
    <dgm:pt modelId="{6C135539-CDAC-47F8-8BE1-319B096B426E}" type="pres">
      <dgm:prSet presAssocID="{B85E06C4-0E6D-4785-BE90-4F16C20D05A0}" presName="parTx" presStyleLbl="revTx" presStyleIdx="0" presStyleCnt="3">
        <dgm:presLayoutVars>
          <dgm:chMax val="0"/>
          <dgm:chPref val="0"/>
        </dgm:presLayoutVars>
      </dgm:prSet>
      <dgm:spPr/>
    </dgm:pt>
    <dgm:pt modelId="{44A11DB3-51B3-4E12-A072-D7AC58ADD4F3}" type="pres">
      <dgm:prSet presAssocID="{479509F6-198E-4651-95D4-DE509C5BE289}" presName="sibTrans" presStyleCnt="0"/>
      <dgm:spPr/>
    </dgm:pt>
    <dgm:pt modelId="{9B209325-BB4D-4F77-B0D0-56AD197C590B}" type="pres">
      <dgm:prSet presAssocID="{990B369E-DD38-4BD4-A24C-ACFECB2AE5A5}" presName="compNode" presStyleCnt="0"/>
      <dgm:spPr/>
    </dgm:pt>
    <dgm:pt modelId="{A5FF0DC2-E35B-4997-A6C7-C29243436D9F}" type="pres">
      <dgm:prSet presAssocID="{990B369E-DD38-4BD4-A24C-ACFECB2AE5A5}" presName="bgRect" presStyleLbl="bgShp" presStyleIdx="1" presStyleCnt="3"/>
      <dgm:spPr/>
    </dgm:pt>
    <dgm:pt modelId="{96ED1ED7-DE09-49CE-B412-1D410CCF832B}" type="pres">
      <dgm:prSet presAssocID="{990B369E-DD38-4BD4-A24C-ACFECB2AE5A5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ireless router"/>
        </a:ext>
      </dgm:extLst>
    </dgm:pt>
    <dgm:pt modelId="{DF1CD725-CB39-44E1-8D3A-EF002383D62F}" type="pres">
      <dgm:prSet presAssocID="{990B369E-DD38-4BD4-A24C-ACFECB2AE5A5}" presName="spaceRect" presStyleCnt="0"/>
      <dgm:spPr/>
    </dgm:pt>
    <dgm:pt modelId="{BC23B0D7-2952-412C-B226-EBFB60AAFC72}" type="pres">
      <dgm:prSet presAssocID="{990B369E-DD38-4BD4-A24C-ACFECB2AE5A5}" presName="parTx" presStyleLbl="revTx" presStyleIdx="1" presStyleCnt="3">
        <dgm:presLayoutVars>
          <dgm:chMax val="0"/>
          <dgm:chPref val="0"/>
        </dgm:presLayoutVars>
      </dgm:prSet>
      <dgm:spPr/>
    </dgm:pt>
    <dgm:pt modelId="{C9F2D232-BBBE-40AB-93A5-975E9CAF5D31}" type="pres">
      <dgm:prSet presAssocID="{67F4D13D-05B9-4D83-9090-546E31B60294}" presName="sibTrans" presStyleCnt="0"/>
      <dgm:spPr/>
    </dgm:pt>
    <dgm:pt modelId="{43596B42-A264-40B6-A093-AC55349CE38E}" type="pres">
      <dgm:prSet presAssocID="{F565A773-2BD1-40DB-89AE-900DF6598EA4}" presName="compNode" presStyleCnt="0"/>
      <dgm:spPr/>
    </dgm:pt>
    <dgm:pt modelId="{E946DF02-E35E-4458-AF4D-AFA14F485369}" type="pres">
      <dgm:prSet presAssocID="{F565A773-2BD1-40DB-89AE-900DF6598EA4}" presName="bgRect" presStyleLbl="bgShp" presStyleIdx="2" presStyleCnt="3"/>
      <dgm:spPr/>
    </dgm:pt>
    <dgm:pt modelId="{C5EF812E-9591-4D03-AA4D-926922BCEB39}" type="pres">
      <dgm:prSet presAssocID="{F565A773-2BD1-40DB-89AE-900DF6598EA4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Image"/>
        </a:ext>
      </dgm:extLst>
    </dgm:pt>
    <dgm:pt modelId="{C84D46D0-ABD9-4BB7-9ECD-D88E22CD2265}" type="pres">
      <dgm:prSet presAssocID="{F565A773-2BD1-40DB-89AE-900DF6598EA4}" presName="spaceRect" presStyleCnt="0"/>
      <dgm:spPr/>
    </dgm:pt>
    <dgm:pt modelId="{DCF0F954-A0C0-42AD-8E12-74127D33796F}" type="pres">
      <dgm:prSet presAssocID="{F565A773-2BD1-40DB-89AE-900DF6598EA4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35A20516-920E-4465-9636-35AA16E8DEC6}" type="presOf" srcId="{6FBA3FD5-8DFF-47C2-B0EC-13A7AD8016D0}" destId="{97595C2E-6DF0-44BC-B17A-0DC54C3AF23F}" srcOrd="0" destOrd="0" presId="urn:microsoft.com/office/officeart/2018/2/layout/IconVerticalSolidList"/>
    <dgm:cxn modelId="{F1C1B81E-D610-4D20-9DB2-7135186E9855}" srcId="{6FBA3FD5-8DFF-47C2-B0EC-13A7AD8016D0}" destId="{990B369E-DD38-4BD4-A24C-ACFECB2AE5A5}" srcOrd="1" destOrd="0" parTransId="{6529A42A-424F-4D1A-80FE-0EDA19E9E03C}" sibTransId="{67F4D13D-05B9-4D83-9090-546E31B60294}"/>
    <dgm:cxn modelId="{FC0B6237-9751-472B-8F29-8D330863EB4E}" type="presOf" srcId="{B85E06C4-0E6D-4785-BE90-4F16C20D05A0}" destId="{6C135539-CDAC-47F8-8BE1-319B096B426E}" srcOrd="0" destOrd="0" presId="urn:microsoft.com/office/officeart/2018/2/layout/IconVerticalSolidList"/>
    <dgm:cxn modelId="{D57BDB90-B876-41C9-88ED-7615722324FE}" type="presOf" srcId="{990B369E-DD38-4BD4-A24C-ACFECB2AE5A5}" destId="{BC23B0D7-2952-412C-B226-EBFB60AAFC72}" srcOrd="0" destOrd="0" presId="urn:microsoft.com/office/officeart/2018/2/layout/IconVerticalSolidList"/>
    <dgm:cxn modelId="{4C5596A8-2AD4-4E42-97F4-E82704AD7426}" type="presOf" srcId="{F565A773-2BD1-40DB-89AE-900DF6598EA4}" destId="{DCF0F954-A0C0-42AD-8E12-74127D33796F}" srcOrd="0" destOrd="0" presId="urn:microsoft.com/office/officeart/2018/2/layout/IconVerticalSolidList"/>
    <dgm:cxn modelId="{5B0833B8-F02C-481F-B35D-05C2B7D27D71}" srcId="{6FBA3FD5-8DFF-47C2-B0EC-13A7AD8016D0}" destId="{B85E06C4-0E6D-4785-BE90-4F16C20D05A0}" srcOrd="0" destOrd="0" parTransId="{B1AD0D62-4874-479B-8C92-A1D0ABD01A2E}" sibTransId="{479509F6-198E-4651-95D4-DE509C5BE289}"/>
    <dgm:cxn modelId="{573BEEDD-C461-4F52-8A97-8267EB9C260E}" srcId="{6FBA3FD5-8DFF-47C2-B0EC-13A7AD8016D0}" destId="{F565A773-2BD1-40DB-89AE-900DF6598EA4}" srcOrd="2" destOrd="0" parTransId="{DD3BBFFB-D4F9-4A44-95B7-C2DA3737912C}" sibTransId="{89A19FCA-1A7F-46E7-B691-DAE9052F2B71}"/>
    <dgm:cxn modelId="{E4BBF6B9-EA51-4498-8C91-631E4BFC3B61}" type="presParOf" srcId="{97595C2E-6DF0-44BC-B17A-0DC54C3AF23F}" destId="{8FC8F573-9431-4C36-B94F-20672F5B9C2F}" srcOrd="0" destOrd="0" presId="urn:microsoft.com/office/officeart/2018/2/layout/IconVerticalSolidList"/>
    <dgm:cxn modelId="{13EEC292-9F47-4B57-BB5C-1A111C48229B}" type="presParOf" srcId="{8FC8F573-9431-4C36-B94F-20672F5B9C2F}" destId="{B59DFBF0-797A-468B-9C55-3062028EED9C}" srcOrd="0" destOrd="0" presId="urn:microsoft.com/office/officeart/2018/2/layout/IconVerticalSolidList"/>
    <dgm:cxn modelId="{02A2CDDB-941C-475A-B59A-CAE639871CDD}" type="presParOf" srcId="{8FC8F573-9431-4C36-B94F-20672F5B9C2F}" destId="{84CA9DA3-12E2-4D23-861B-E375F349E2A4}" srcOrd="1" destOrd="0" presId="urn:microsoft.com/office/officeart/2018/2/layout/IconVerticalSolidList"/>
    <dgm:cxn modelId="{8AED0B87-BFCE-4471-BD3E-604DAD41A5FF}" type="presParOf" srcId="{8FC8F573-9431-4C36-B94F-20672F5B9C2F}" destId="{117AE54C-A92F-405A-9185-5D4EC58D9E4D}" srcOrd="2" destOrd="0" presId="urn:microsoft.com/office/officeart/2018/2/layout/IconVerticalSolidList"/>
    <dgm:cxn modelId="{B274384A-37FC-44B8-817A-874EC18ECBD1}" type="presParOf" srcId="{8FC8F573-9431-4C36-B94F-20672F5B9C2F}" destId="{6C135539-CDAC-47F8-8BE1-319B096B426E}" srcOrd="3" destOrd="0" presId="urn:microsoft.com/office/officeart/2018/2/layout/IconVerticalSolidList"/>
    <dgm:cxn modelId="{EE4F6511-8EB7-4809-B1A0-9034AA02A0C8}" type="presParOf" srcId="{97595C2E-6DF0-44BC-B17A-0DC54C3AF23F}" destId="{44A11DB3-51B3-4E12-A072-D7AC58ADD4F3}" srcOrd="1" destOrd="0" presId="urn:microsoft.com/office/officeart/2018/2/layout/IconVerticalSolidList"/>
    <dgm:cxn modelId="{5DD5E9D0-A65C-439F-BC30-C25CD05A5FE4}" type="presParOf" srcId="{97595C2E-6DF0-44BC-B17A-0DC54C3AF23F}" destId="{9B209325-BB4D-4F77-B0D0-56AD197C590B}" srcOrd="2" destOrd="0" presId="urn:microsoft.com/office/officeart/2018/2/layout/IconVerticalSolidList"/>
    <dgm:cxn modelId="{A9819E11-0B0E-4288-A6BD-DB098B176AA6}" type="presParOf" srcId="{9B209325-BB4D-4F77-B0D0-56AD197C590B}" destId="{A5FF0DC2-E35B-4997-A6C7-C29243436D9F}" srcOrd="0" destOrd="0" presId="urn:microsoft.com/office/officeart/2018/2/layout/IconVerticalSolidList"/>
    <dgm:cxn modelId="{6D949ABC-A910-4D49-AE70-50FD19A46A7A}" type="presParOf" srcId="{9B209325-BB4D-4F77-B0D0-56AD197C590B}" destId="{96ED1ED7-DE09-49CE-B412-1D410CCF832B}" srcOrd="1" destOrd="0" presId="urn:microsoft.com/office/officeart/2018/2/layout/IconVerticalSolidList"/>
    <dgm:cxn modelId="{ABE7252E-92E2-49A9-B156-20AE7BFB1EDB}" type="presParOf" srcId="{9B209325-BB4D-4F77-B0D0-56AD197C590B}" destId="{DF1CD725-CB39-44E1-8D3A-EF002383D62F}" srcOrd="2" destOrd="0" presId="urn:microsoft.com/office/officeart/2018/2/layout/IconVerticalSolidList"/>
    <dgm:cxn modelId="{0E4DC795-DC98-415B-A53E-7A1195B01EF6}" type="presParOf" srcId="{9B209325-BB4D-4F77-B0D0-56AD197C590B}" destId="{BC23B0D7-2952-412C-B226-EBFB60AAFC72}" srcOrd="3" destOrd="0" presId="urn:microsoft.com/office/officeart/2018/2/layout/IconVerticalSolidList"/>
    <dgm:cxn modelId="{AA4E69D2-E595-41F3-8527-96CA46A8A78F}" type="presParOf" srcId="{97595C2E-6DF0-44BC-B17A-0DC54C3AF23F}" destId="{C9F2D232-BBBE-40AB-93A5-975E9CAF5D31}" srcOrd="3" destOrd="0" presId="urn:microsoft.com/office/officeart/2018/2/layout/IconVerticalSolidList"/>
    <dgm:cxn modelId="{7977BCED-9FBB-4B41-B8AD-6147614E5D5E}" type="presParOf" srcId="{97595C2E-6DF0-44BC-B17A-0DC54C3AF23F}" destId="{43596B42-A264-40B6-A093-AC55349CE38E}" srcOrd="4" destOrd="0" presId="urn:microsoft.com/office/officeart/2018/2/layout/IconVerticalSolidList"/>
    <dgm:cxn modelId="{D0BD00EC-D9DD-48C5-8720-ADD16C0EDCB0}" type="presParOf" srcId="{43596B42-A264-40B6-A093-AC55349CE38E}" destId="{E946DF02-E35E-4458-AF4D-AFA14F485369}" srcOrd="0" destOrd="0" presId="urn:microsoft.com/office/officeart/2018/2/layout/IconVerticalSolidList"/>
    <dgm:cxn modelId="{F8465657-89C5-42E3-956F-B3403B838BF9}" type="presParOf" srcId="{43596B42-A264-40B6-A093-AC55349CE38E}" destId="{C5EF812E-9591-4D03-AA4D-926922BCEB39}" srcOrd="1" destOrd="0" presId="urn:microsoft.com/office/officeart/2018/2/layout/IconVerticalSolidList"/>
    <dgm:cxn modelId="{422F1F4D-B2B7-420A-91AD-C58226C20AD4}" type="presParOf" srcId="{43596B42-A264-40B6-A093-AC55349CE38E}" destId="{C84D46D0-ABD9-4BB7-9ECD-D88E22CD2265}" srcOrd="2" destOrd="0" presId="urn:microsoft.com/office/officeart/2018/2/layout/IconVerticalSolidList"/>
    <dgm:cxn modelId="{056B1046-C44D-424F-8CCB-D6E072A745E9}" type="presParOf" srcId="{43596B42-A264-40B6-A093-AC55349CE38E}" destId="{DCF0F954-A0C0-42AD-8E12-74127D33796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59DFBF0-797A-468B-9C55-3062028EED9C}">
      <dsp:nvSpPr>
        <dsp:cNvPr id="0" name=""/>
        <dsp:cNvSpPr/>
      </dsp:nvSpPr>
      <dsp:spPr>
        <a:xfrm>
          <a:off x="0" y="36730"/>
          <a:ext cx="8841925" cy="147825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4CA9DA3-12E2-4D23-861B-E375F349E2A4}">
      <dsp:nvSpPr>
        <dsp:cNvPr id="0" name=""/>
        <dsp:cNvSpPr/>
      </dsp:nvSpPr>
      <dsp:spPr>
        <a:xfrm>
          <a:off x="447173" y="333239"/>
          <a:ext cx="813041" cy="81304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C135539-CDAC-47F8-8BE1-319B096B426E}">
      <dsp:nvSpPr>
        <dsp:cNvPr id="0" name=""/>
        <dsp:cNvSpPr/>
      </dsp:nvSpPr>
      <dsp:spPr>
        <a:xfrm>
          <a:off x="1707387" y="631"/>
          <a:ext cx="7134537" cy="14782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6449" tIns="156449" rIns="156449" bIns="156449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500" kern="1200" dirty="0"/>
            <a:t>Your badge serves as your ticket for lunch</a:t>
          </a:r>
          <a:endParaRPr lang="en-US" sz="2500" kern="1200" dirty="0"/>
        </a:p>
      </dsp:txBody>
      <dsp:txXfrm>
        <a:off x="1707387" y="631"/>
        <a:ext cx="7134537" cy="1478257"/>
      </dsp:txXfrm>
    </dsp:sp>
    <dsp:sp modelId="{A5FF0DC2-E35B-4997-A6C7-C29243436D9F}">
      <dsp:nvSpPr>
        <dsp:cNvPr id="0" name=""/>
        <dsp:cNvSpPr/>
      </dsp:nvSpPr>
      <dsp:spPr>
        <a:xfrm>
          <a:off x="0" y="1848454"/>
          <a:ext cx="8841925" cy="147825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6ED1ED7-DE09-49CE-B412-1D410CCF832B}">
      <dsp:nvSpPr>
        <dsp:cNvPr id="0" name=""/>
        <dsp:cNvSpPr/>
      </dsp:nvSpPr>
      <dsp:spPr>
        <a:xfrm>
          <a:off x="447173" y="2181062"/>
          <a:ext cx="813041" cy="81304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C23B0D7-2952-412C-B226-EBFB60AAFC72}">
      <dsp:nvSpPr>
        <dsp:cNvPr id="0" name=""/>
        <dsp:cNvSpPr/>
      </dsp:nvSpPr>
      <dsp:spPr>
        <a:xfrm>
          <a:off x="1707387" y="1848454"/>
          <a:ext cx="7134537" cy="14782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6449" tIns="156449" rIns="156449" bIns="156449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500" kern="1200"/>
            <a:t>Wi-Fi: Connect to the Eduroam network (password was sent via email)</a:t>
          </a:r>
          <a:endParaRPr lang="en-US" sz="2500" kern="1200"/>
        </a:p>
      </dsp:txBody>
      <dsp:txXfrm>
        <a:off x="1707387" y="1848454"/>
        <a:ext cx="7134537" cy="1478257"/>
      </dsp:txXfrm>
    </dsp:sp>
    <dsp:sp modelId="{E946DF02-E35E-4458-AF4D-AFA14F485369}">
      <dsp:nvSpPr>
        <dsp:cNvPr id="0" name=""/>
        <dsp:cNvSpPr/>
      </dsp:nvSpPr>
      <dsp:spPr>
        <a:xfrm>
          <a:off x="0" y="3696276"/>
          <a:ext cx="8841925" cy="147825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5EF812E-9591-4D03-AA4D-926922BCEB39}">
      <dsp:nvSpPr>
        <dsp:cNvPr id="0" name=""/>
        <dsp:cNvSpPr/>
      </dsp:nvSpPr>
      <dsp:spPr>
        <a:xfrm>
          <a:off x="447173" y="4028884"/>
          <a:ext cx="813041" cy="813041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CF0F954-A0C0-42AD-8E12-74127D33796F}">
      <dsp:nvSpPr>
        <dsp:cNvPr id="0" name=""/>
        <dsp:cNvSpPr/>
      </dsp:nvSpPr>
      <dsp:spPr>
        <a:xfrm>
          <a:off x="1707387" y="3696276"/>
          <a:ext cx="7134537" cy="14782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6449" tIns="156449" rIns="156449" bIns="156449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500" kern="1200" dirty="0"/>
            <a:t>Please note, a photographer </a:t>
          </a:r>
          <a:r>
            <a:rPr lang="en-GB" sz="2500" i="1" kern="1200" dirty="0"/>
            <a:t>might</a:t>
          </a:r>
          <a:r>
            <a:rPr lang="en-GB" sz="2500" kern="1200" dirty="0"/>
            <a:t> be present</a:t>
          </a:r>
          <a:endParaRPr lang="en-US" sz="2500" kern="1200" dirty="0"/>
        </a:p>
      </dsp:txBody>
      <dsp:txXfrm>
        <a:off x="1707387" y="3696276"/>
        <a:ext cx="7134537" cy="147825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FDEBC5-B985-4DBD-971A-DE566E1C50A2}" type="datetimeFigureOut">
              <a:rPr lang="nl-NL" smtClean="0"/>
              <a:t>13-11-2025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AE3956-8282-4F35-BBF9-4A117B2EA08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644725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AE3956-8282-4F35-BBF9-4A117B2EA080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46406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AE3956-8282-4F35-BBF9-4A117B2EA080}" type="slidenum">
              <a:rPr lang="nl-NL" smtClean="0"/>
              <a:t>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004317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Has everyone picked up their badge or have it made?</a:t>
            </a:r>
          </a:p>
          <a:p>
            <a:r>
              <a:rPr lang="en-US" dirty="0"/>
              <a:t>That's your ticket for lunch!</a:t>
            </a:r>
          </a:p>
          <a:p>
            <a:endParaRPr lang="en-US" dirty="0"/>
          </a:p>
          <a:p>
            <a:r>
              <a:rPr lang="en-US" dirty="0"/>
              <a:t>An internet connection has been arranged for you on the campus in Delft. This account is for a limited period of time and personal. You should have received a email with your personal </a:t>
            </a:r>
            <a:r>
              <a:rPr lang="en-US" dirty="0" err="1"/>
              <a:t>Eduroam</a:t>
            </a:r>
            <a:r>
              <a:rPr lang="en-US" dirty="0"/>
              <a:t> </a:t>
            </a:r>
            <a:r>
              <a:rPr lang="en-US" dirty="0" err="1"/>
              <a:t>WiFi</a:t>
            </a:r>
            <a:r>
              <a:rPr lang="en-US" dirty="0"/>
              <a:t> account. If not, you can still arrange it at the Information Desk later today.</a:t>
            </a:r>
          </a:p>
          <a:p>
            <a:endParaRPr lang="en-US" dirty="0"/>
          </a:p>
          <a:p>
            <a:r>
              <a:rPr lang="en-US" dirty="0"/>
              <a:t>Photographer present -&gt; report to the Information Desk if you object to publication online.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87936C7-6A70-449E-955C-4D17B497A807}" type="datetime4">
              <a:rPr lang="nl-NL" smtClean="0"/>
              <a:pPr/>
              <a:t>13 november 2025</a:t>
            </a:fld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A2684D4-5C03-4A46-9CBF-D8F1FEEB2460}" type="slidenum">
              <a:rPr lang="nl-NL" smtClean="0"/>
              <a:pPr/>
              <a:t>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587900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sz="9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AE3956-8282-4F35-BBF9-4A117B2EA080}" type="slidenum">
              <a:rPr lang="nl-NL" smtClean="0"/>
              <a:t>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44809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23AD5-7EE1-89D1-CC15-61B0198DFB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8D90A8-E116-07ED-BA2E-C66CFD39F5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A45E0E-43C3-F9FA-1A49-67FE04D47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03529F-F810-4FC9-BD64-0B4367090BD1}" type="datetimeFigureOut">
              <a:rPr lang="nl-NL" smtClean="0"/>
              <a:t>13-11-2025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9C708C-D056-CAD0-0755-66ACBFD58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F2D0C9-3C59-867A-945B-10FE5409F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FF3C11-EB2C-44C6-9893-49804F457FE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66476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BDBCB-70B0-2B73-6940-DB0DF8468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581713-BABF-149F-543B-A52A432CB8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676085-C6EA-7049-61BE-13AB5A67A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03529F-F810-4FC9-BD64-0B4367090BD1}" type="datetimeFigureOut">
              <a:rPr lang="nl-NL" smtClean="0"/>
              <a:t>13-11-2025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77A9E9-AD50-4E18-FB34-BFF00A3D41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711479-86B5-DC0F-110F-D9A57666F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FF3C11-EB2C-44C6-9893-49804F457FE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005794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046FE-4713-3D40-6F13-886C318511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B1E0CD-8B54-6A1B-938B-8F73E465E4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E2331-8208-01A3-0DDB-E27535B052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03529F-F810-4FC9-BD64-0B4367090BD1}" type="datetimeFigureOut">
              <a:rPr lang="nl-NL" smtClean="0"/>
              <a:t>13-11-2025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03F99A-C961-DC20-C4D2-63C470463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430D86-32E4-DB6E-EEBA-4B739BFFC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FF3C11-EB2C-44C6-9893-49804F457FE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59245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38FDD-D015-3BF6-12D6-1ADEC99C2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63D290-084B-300D-2265-762F30F29A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0FC830-718B-CE3E-76A2-0263873867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C51E90-3326-75DC-5ACC-5C65752AA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03529F-F810-4FC9-BD64-0B4367090BD1}" type="datetimeFigureOut">
              <a:rPr lang="nl-NL" smtClean="0"/>
              <a:t>13-11-2025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2D9D72-FCB2-172A-147D-D092DCCB4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CDD306-CFD9-BA41-389D-4A3BE0635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FF3C11-EB2C-44C6-9893-49804F457FE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335171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C2367-B205-743C-EB21-78E1CB68B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7A4F66-83A7-810A-20DF-CF79897F72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12A986-A376-C4CA-CA08-F63B17FA33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470D90-2245-435F-8F1F-9186D08DEF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EB158B-9FCF-A5A6-DC7C-87E754A436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F1E53AB-2760-1C6D-A385-1281732F8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03529F-F810-4FC9-BD64-0B4367090BD1}" type="datetimeFigureOut">
              <a:rPr lang="nl-NL" smtClean="0"/>
              <a:t>13-11-2025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97D2C0-3DC4-4C2E-702F-717E08B1B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2DB3254-B818-23E0-3232-BCD4F40D5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FF3C11-EB2C-44C6-9893-49804F457FE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495755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ECF926-10A0-5CF3-92E9-FBD806F00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443CFD-89E4-5E9F-57BF-6564CE724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03529F-F810-4FC9-BD64-0B4367090BD1}" type="datetimeFigureOut">
              <a:rPr lang="nl-NL" smtClean="0"/>
              <a:t>13-11-2025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882BCA-F2CA-C9AC-4ACB-6C9ADE956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385B4F-5992-2C1E-20D0-52883872E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FF3C11-EB2C-44C6-9893-49804F457FE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121293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425F4D2-E07C-D177-E81C-88CB9C4D7B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03529F-F810-4FC9-BD64-0B4367090BD1}" type="datetimeFigureOut">
              <a:rPr lang="nl-NL" smtClean="0"/>
              <a:t>13-11-2025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12E6D1-80FF-0900-BEFD-7DD46CFDE6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6E8498-2E7C-338D-BA89-618420322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FF3C11-EB2C-44C6-9893-49804F457FE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114572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38BE6E-2E0F-5E6A-B83C-72E74D561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51338-D0FE-7E34-3C04-7C5EC208AF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571DB1-B3EC-5CE3-240B-66E1AECF9F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EA3F28-D873-D6F2-0097-C0637441D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03529F-F810-4FC9-BD64-0B4367090BD1}" type="datetimeFigureOut">
              <a:rPr lang="nl-NL" smtClean="0"/>
              <a:t>13-11-2025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C93D38-8793-199F-8F55-BA3D9F1753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52A14E-2A0B-BEED-1600-85E83C710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FF3C11-EB2C-44C6-9893-49804F457FE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40389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C90A6-0168-5FC5-3FB5-3D63149D3F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8E7B21-08F7-F669-A827-399DC8C292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29A01A-BB47-6B53-DDE2-253F7D99D3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5ECBBA-1E73-90FA-7E34-6852779518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03529F-F810-4FC9-BD64-0B4367090BD1}" type="datetimeFigureOut">
              <a:rPr lang="nl-NL" smtClean="0"/>
              <a:t>13-11-2025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09B05B-834C-D609-F7A1-655A764BB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F5DE33-E19D-47F9-BD3D-AFD468266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FF3C11-EB2C-44C6-9893-49804F457FE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78988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87B68-1567-6949-4E7C-11A22D19D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F63342-97B2-D17D-B0DA-5A2D2BD99E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CC00C7-38BB-4AEE-15DC-19A51A068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03529F-F810-4FC9-BD64-0B4367090BD1}" type="datetimeFigureOut">
              <a:rPr lang="nl-NL" smtClean="0"/>
              <a:t>13-11-2025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8B6F23-8EF7-46E8-1717-2287DBFA4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53639A-2AEA-8ACB-21C3-2C292C71E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FF3C11-EB2C-44C6-9893-49804F457FE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901515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0BFE5C5-60BF-1D86-E764-3C9E1D07568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0EE016-A535-87F9-BE94-9B8CA445CC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4D0F71-1BDF-98CA-8741-D12289DB5D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03529F-F810-4FC9-BD64-0B4367090BD1}" type="datetimeFigureOut">
              <a:rPr lang="nl-NL" smtClean="0"/>
              <a:t>13-11-2025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6A66BF-0581-EFB7-CE01-21EC8FFC0C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DDE95F-8E74-00C5-6A32-7DC697AAB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FF3C11-EB2C-44C6-9893-49804F457FE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984295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3723E-B87D-0F45-04E1-C9063124F1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1DEDE2-CE13-2E34-E0E9-0C665B70CE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98C686-048D-E33A-8100-6350B7D781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7F1A7-46C0-614C-8973-2677197B1A3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B5ADCD-AE60-27A3-ED95-6E8286B2B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C87CDD-7A79-9E96-61E7-5858FA528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30CD8-110D-3047-99F8-77B3621329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9780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ABDD1-B5FE-2DCC-0162-70893E14E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0A5644-C265-01C2-B99B-ACCB355778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379746-BBAE-76F9-BF04-BAF50AD87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7F1A7-46C0-614C-8973-2677197B1A3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DDD785-5828-A30A-18C5-84396889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079A2E-5E2C-6F11-5F94-67F67CF8C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30CD8-110D-3047-99F8-77B3621329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1358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B0804-9B67-F05C-AF2F-471F54A100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C96274-5295-979D-5BAF-E7918E8723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E252FC-B6BA-4E11-7E01-EC0737B4C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7F1A7-46C0-614C-8973-2677197B1A3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35EA5F-632F-A347-DD82-5A255EB54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7D0A59-1962-DF5F-5E30-E4A2640EA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30CD8-110D-3047-99F8-77B3621329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34223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D24D8C-F582-8E6B-D949-A2E1FEE7C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EE3CF3-E0FB-DC66-03A1-C4F364982F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0842CD-3DA4-4837-1358-061EFE03C8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C71512-80DA-6A28-FB0C-E6682620EB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7F1A7-46C0-614C-8973-2677197B1A3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C5B810-45D8-B339-DEB9-26258CC890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290976-BB5F-505E-017E-A8CD4C690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30CD8-110D-3047-99F8-77B3621329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85789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FF7846-4BA3-7D86-0493-25FB52BDEC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71DEA3-48B2-A8D8-164D-A416268EB9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3468E0-CB41-8AA5-56A5-6EA8F11A6B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345DFA-F7B0-B434-A231-BF825D2C1B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291FFD-D6AE-8331-C935-997172C88F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26E87C5-F0E1-9709-95B0-7F94F953DC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7F1A7-46C0-614C-8973-2677197B1A3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525D591-57F4-02E4-0650-3ACEFF902C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7C2320-58CA-78EF-F52A-C236622BA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30CD8-110D-3047-99F8-77B3621329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13798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25B7C-5B04-80F6-47F9-5EEF0241D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A1E777-269E-EC3C-A89D-10A1EA55C9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7F1A7-46C0-614C-8973-2677197B1A3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FE170C-7719-22CE-CF35-2325AED40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2B1701-B14E-9AF4-F882-AFED2989C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30CD8-110D-3047-99F8-77B3621329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657030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5C63E09-291A-8AC3-2CF7-11D6D0A296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7F1A7-46C0-614C-8973-2677197B1A3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21D3E21-DF0E-3BDB-3BC6-8BA7C7CC1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887D3E-459A-3E57-9DB7-37948096A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30CD8-110D-3047-99F8-77B3621329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24402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D71EF-7124-0376-C475-280F9641AC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7F3FFE-CA03-1ED9-A80B-28209738FF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529F15-C9FF-573B-4ED9-7E90C09891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13E9B1-F049-3E38-ECA9-CA35F25BB7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7F1A7-46C0-614C-8973-2677197B1A3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3078A5-6277-58E1-2C02-DF337F6EBD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D9DD66-F8A0-ABC3-B302-D01F53FA3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30CD8-110D-3047-99F8-77B3621329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37732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C2396-F03A-1A21-D0B3-5834461FC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EC58206-170F-A9F7-D5DF-82EBFED305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82F7C7-75EE-0482-33A6-261E1EB377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1EF866-F419-BFA8-27EE-058DAAF40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7F1A7-46C0-614C-8973-2677197B1A3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9DCC34-B3B7-0305-5A7D-35DBAB5F9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8424B4-1271-1765-5872-899F474CC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30CD8-110D-3047-99F8-77B3621329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84244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6C0A1-4253-113D-FA76-A1C36FC0F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72972B-51DE-095D-19E4-C62C7623AF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747D91-1582-9FAF-0418-5A86AEFED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7F1A7-46C0-614C-8973-2677197B1A3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0256EA-F551-2245-D5DE-637314D08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CFB3AA-8C46-A4FD-7A5C-3BFDE6D7F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30CD8-110D-3047-99F8-77B3621329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8163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6B38ABB-7383-E4D5-8D5B-58C4667918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D9DF1E-4AE3-9E4A-1C6E-DE3FBAAB0C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D8AAEF-D1E5-D11E-A008-EAA846EFF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7F1A7-46C0-614C-8973-2677197B1A3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F61E69-0C6D-245F-51AE-192C97AA71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998535-B0D4-7860-3589-4BE096E92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30CD8-110D-3047-99F8-77B3621329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659021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80096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196E57-1131-E79C-582E-F00BB1BC2E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E1C40B-1B77-C30D-E582-F69AC1ADFA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D93A24-F5C5-E60D-E0FA-18FFA3522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03529F-F810-4FC9-BD64-0B4367090BD1}" type="datetimeFigureOut">
              <a:rPr lang="nl-NL" smtClean="0"/>
              <a:t>13-11-2025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07CC9C-A7F1-AF1B-F8F8-C5DCB11D1A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53747C-69C2-6460-0BEF-BFCF65F40B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FF3C11-EB2C-44C6-9893-49804F457FE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62561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09CED6-39D3-B548-CFDD-D791FA2F9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FA89EA-C453-2A5C-AABB-7A07DC7D84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A71985-4958-3DBF-18DE-9F93762A94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E7F1A7-46C0-614C-8973-2677197B1A3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7DDB3A-9A4E-60BC-E9AF-33FBAF8783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14A7D9-DA80-B130-ADE5-0E284C458A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230CD8-110D-3047-99F8-77B3621329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962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12" Type="http://schemas.openxmlformats.org/officeDocument/2006/relationships/image" Target="../media/image10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tiff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14.svg"/><Relationship Id="rId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github.com/mjr-deltares/modflow-dsd25" TargetMode="Externa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98F3DEE-0E56-499F-AFAE-C2DA7C2C81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BB65E49-5337-40E3-9DBD-146D14EA07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-2"/>
            <a:ext cx="12192000" cy="4522610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859509F-94DC-4952-A3B5-1EFAA2F524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68276" y="5"/>
            <a:ext cx="4023722" cy="4522603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B1AF2CB-1EFE-4962-A8DC-2D3CE47362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7200" y="-5"/>
            <a:ext cx="11743606" cy="4513113"/>
          </a:xfrm>
          <a:prstGeom prst="rect">
            <a:avLst/>
          </a:prstGeom>
          <a:gradFill>
            <a:gsLst>
              <a:gs pos="0">
                <a:srgbClr val="000000">
                  <a:alpha val="8000"/>
                </a:srgbClr>
              </a:gs>
              <a:gs pos="76000">
                <a:schemeClr val="accent1">
                  <a:lumMod val="75000"/>
                  <a:alpha val="22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232531E-9E20-48D1-A119-C05304D9E8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8807" y="-9506"/>
            <a:ext cx="12200801" cy="4532114"/>
          </a:xfrm>
          <a:prstGeom prst="rect">
            <a:avLst/>
          </a:prstGeom>
          <a:gradFill>
            <a:gsLst>
              <a:gs pos="0">
                <a:srgbClr val="000000">
                  <a:alpha val="51000"/>
                </a:srgbClr>
              </a:gs>
              <a:gs pos="74000">
                <a:schemeClr val="accent1">
                  <a:alpha val="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7AA014B-79A8-4BEC-893F-423182880E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"/>
            <a:ext cx="12192000" cy="2679585"/>
          </a:xfrm>
          <a:prstGeom prst="rect">
            <a:avLst/>
          </a:prstGeom>
          <a:gradFill>
            <a:gsLst>
              <a:gs pos="20000">
                <a:schemeClr val="accent1">
                  <a:alpha val="9000"/>
                </a:schemeClr>
              </a:gs>
              <a:gs pos="100000">
                <a:srgbClr val="000000">
                  <a:alpha val="67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97C841F-61F5-DAA4-A6DE-7FF64055D8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7467" y="617924"/>
            <a:ext cx="9617105" cy="1999602"/>
          </a:xfrm>
        </p:spPr>
        <p:txBody>
          <a:bodyPr>
            <a:normAutofit/>
          </a:bodyPr>
          <a:lstStyle/>
          <a:p>
            <a:pPr algn="l"/>
            <a:r>
              <a:rPr lang="en-GB" sz="4800" dirty="0">
                <a:solidFill>
                  <a:srgbClr val="FFFFFF"/>
                </a:solidFill>
              </a:rPr>
              <a:t>Welcome</a:t>
            </a:r>
            <a:br>
              <a:rPr lang="en-GB" sz="4400" dirty="0">
                <a:solidFill>
                  <a:srgbClr val="FFFFFF"/>
                </a:solidFill>
              </a:rPr>
            </a:br>
            <a:r>
              <a:rPr lang="en-GB" sz="2400" i="1" dirty="0">
                <a:solidFill>
                  <a:srgbClr val="D27961"/>
                </a:solidFill>
              </a:rPr>
              <a:t>Advanced MODFLOW Training Class,</a:t>
            </a:r>
            <a:br>
              <a:rPr lang="en-GB" sz="2400" i="1" dirty="0">
                <a:solidFill>
                  <a:srgbClr val="D27961"/>
                </a:solidFill>
              </a:rPr>
            </a:br>
            <a:r>
              <a:rPr lang="en-GB" sz="2400" i="1" dirty="0">
                <a:solidFill>
                  <a:srgbClr val="D27961"/>
                </a:solidFill>
              </a:rPr>
              <a:t>Delft, November 21, 2025</a:t>
            </a:r>
            <a:endParaRPr lang="en-US" sz="4400" i="1" dirty="0">
              <a:solidFill>
                <a:srgbClr val="D27961"/>
              </a:solidFill>
            </a:endParaRPr>
          </a:p>
        </p:txBody>
      </p:sp>
      <p:pic>
        <p:nvPicPr>
          <p:cNvPr id="4" name="Picture 3" descr="tom_analog_1978">
            <a:extLst>
              <a:ext uri="{FF2B5EF4-FFF2-40B4-BE49-F238E27FC236}">
                <a16:creationId xmlns:a16="http://schemas.microsoft.com/office/drawing/2014/main" id="{9DF2818B-5E55-8A54-9FBB-C1900F8B02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1" b="-1"/>
          <a:stretch/>
        </p:blipFill>
        <p:spPr bwMode="auto">
          <a:xfrm>
            <a:off x="643890" y="3463577"/>
            <a:ext cx="1828800" cy="1828800"/>
          </a:xfrm>
          <a:custGeom>
            <a:avLst/>
            <a:gdLst/>
            <a:ahLst/>
            <a:cxnLst/>
            <a:rect l="l" t="t" r="r" b="b"/>
            <a:pathLst>
              <a:path w="2282932" h="2282932">
                <a:moveTo>
                  <a:pt x="1141466" y="0"/>
                </a:moveTo>
                <a:cubicBezTo>
                  <a:pt x="1771880" y="0"/>
                  <a:pt x="2282932" y="511052"/>
                  <a:pt x="2282932" y="1141466"/>
                </a:cubicBezTo>
                <a:cubicBezTo>
                  <a:pt x="2282932" y="1771880"/>
                  <a:pt x="1771880" y="2282932"/>
                  <a:pt x="1141466" y="2282932"/>
                </a:cubicBezTo>
                <a:cubicBezTo>
                  <a:pt x="511052" y="2282932"/>
                  <a:pt x="0" y="1771880"/>
                  <a:pt x="0" y="1141466"/>
                </a:cubicBezTo>
                <a:cubicBezTo>
                  <a:pt x="0" y="511052"/>
                  <a:pt x="511052" y="0"/>
                  <a:pt x="1141466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F325E5A-396D-C81C-3138-791E727FD6A9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2"/>
          <a:stretch/>
        </p:blipFill>
        <p:spPr>
          <a:xfrm>
            <a:off x="9457201" y="3408487"/>
            <a:ext cx="1828800" cy="1828800"/>
          </a:xfrm>
          <a:custGeom>
            <a:avLst/>
            <a:gdLst/>
            <a:ahLst/>
            <a:cxnLst/>
            <a:rect l="l" t="t" r="r" b="b"/>
            <a:pathLst>
              <a:path w="2282932" h="2282932">
                <a:moveTo>
                  <a:pt x="1141466" y="0"/>
                </a:moveTo>
                <a:cubicBezTo>
                  <a:pt x="1771880" y="0"/>
                  <a:pt x="2282932" y="511052"/>
                  <a:pt x="2282932" y="1141466"/>
                </a:cubicBezTo>
                <a:cubicBezTo>
                  <a:pt x="2282932" y="1771880"/>
                  <a:pt x="1771880" y="2282932"/>
                  <a:pt x="1141466" y="2282932"/>
                </a:cubicBezTo>
                <a:cubicBezTo>
                  <a:pt x="511052" y="2282932"/>
                  <a:pt x="0" y="1771880"/>
                  <a:pt x="0" y="1141466"/>
                </a:cubicBezTo>
                <a:cubicBezTo>
                  <a:pt x="0" y="511052"/>
                  <a:pt x="511052" y="0"/>
                  <a:pt x="1141466" y="0"/>
                </a:cubicBezTo>
                <a:close/>
              </a:path>
            </a:pathLst>
          </a:cu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79E263A-F2F8-EE67-3A6D-BE65604A1211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6"/>
          <a:stretch/>
        </p:blipFill>
        <p:spPr>
          <a:xfrm>
            <a:off x="2847218" y="3418612"/>
            <a:ext cx="1828800" cy="1828800"/>
          </a:xfrm>
          <a:custGeom>
            <a:avLst/>
            <a:gdLst/>
            <a:ahLst/>
            <a:cxnLst/>
            <a:rect l="l" t="t" r="r" b="b"/>
            <a:pathLst>
              <a:path w="2282932" h="2282932">
                <a:moveTo>
                  <a:pt x="1141466" y="0"/>
                </a:moveTo>
                <a:cubicBezTo>
                  <a:pt x="1771880" y="0"/>
                  <a:pt x="2282932" y="511052"/>
                  <a:pt x="2282932" y="1141466"/>
                </a:cubicBezTo>
                <a:cubicBezTo>
                  <a:pt x="2282932" y="1771880"/>
                  <a:pt x="1771880" y="2282932"/>
                  <a:pt x="1141466" y="2282932"/>
                </a:cubicBezTo>
                <a:cubicBezTo>
                  <a:pt x="511052" y="2282932"/>
                  <a:pt x="0" y="1771880"/>
                  <a:pt x="0" y="1141466"/>
                </a:cubicBezTo>
                <a:cubicBezTo>
                  <a:pt x="0" y="511052"/>
                  <a:pt x="511052" y="0"/>
                  <a:pt x="1141466" y="0"/>
                </a:cubicBezTo>
                <a:close/>
              </a:path>
            </a:pathLst>
          </a:custGeom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8A0F38C4-7853-7251-341E-9B82FBAF7D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7253874" y="3468179"/>
            <a:ext cx="1828800" cy="1828800"/>
          </a:xfrm>
          <a:custGeom>
            <a:avLst/>
            <a:gdLst/>
            <a:ahLst/>
            <a:cxnLst/>
            <a:rect l="l" t="t" r="r" b="b"/>
            <a:pathLst>
              <a:path w="2282932" h="2282932">
                <a:moveTo>
                  <a:pt x="1141466" y="0"/>
                </a:moveTo>
                <a:cubicBezTo>
                  <a:pt x="1771880" y="0"/>
                  <a:pt x="2282932" y="511052"/>
                  <a:pt x="2282932" y="1141466"/>
                </a:cubicBezTo>
                <a:cubicBezTo>
                  <a:pt x="2282932" y="1771880"/>
                  <a:pt x="1771880" y="2282932"/>
                  <a:pt x="1141466" y="2282932"/>
                </a:cubicBezTo>
                <a:cubicBezTo>
                  <a:pt x="511052" y="2282932"/>
                  <a:pt x="0" y="1771880"/>
                  <a:pt x="0" y="1141466"/>
                </a:cubicBezTo>
                <a:cubicBezTo>
                  <a:pt x="0" y="511052"/>
                  <a:pt x="511052" y="0"/>
                  <a:pt x="1141466" y="0"/>
                </a:cubicBezTo>
                <a:close/>
              </a:path>
            </a:pathLst>
          </a:custGeom>
          <a:solidFill>
            <a:schemeClr val="bg2">
              <a:lumMod val="60000"/>
              <a:lumOff val="40000"/>
            </a:schemeClr>
          </a:solidFill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8BF489E-BE54-C6D1-010E-3497C6205886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050546" y="3463577"/>
            <a:ext cx="1828800" cy="1828800"/>
          </a:xfrm>
          <a:custGeom>
            <a:avLst/>
            <a:gdLst/>
            <a:ahLst/>
            <a:cxnLst/>
            <a:rect l="l" t="t" r="r" b="b"/>
            <a:pathLst>
              <a:path w="2282932" h="2282932">
                <a:moveTo>
                  <a:pt x="1141466" y="0"/>
                </a:moveTo>
                <a:cubicBezTo>
                  <a:pt x="1771880" y="0"/>
                  <a:pt x="2282932" y="511052"/>
                  <a:pt x="2282932" y="1141466"/>
                </a:cubicBezTo>
                <a:cubicBezTo>
                  <a:pt x="2282932" y="1771880"/>
                  <a:pt x="1771880" y="2282932"/>
                  <a:pt x="1141466" y="2282932"/>
                </a:cubicBezTo>
                <a:cubicBezTo>
                  <a:pt x="511052" y="2282932"/>
                  <a:pt x="0" y="1771880"/>
                  <a:pt x="0" y="1141466"/>
                </a:cubicBezTo>
                <a:cubicBezTo>
                  <a:pt x="0" y="511052"/>
                  <a:pt x="511052" y="0"/>
                  <a:pt x="1141466" y="0"/>
                </a:cubicBezTo>
                <a:close/>
              </a:path>
            </a:pathLst>
          </a:cu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0FE480D-7084-BC59-7CE6-28DE940FAED2}"/>
              </a:ext>
            </a:extLst>
          </p:cNvPr>
          <p:cNvPicPr>
            <a:picLocks noChangeAspect="1"/>
          </p:cNvPicPr>
          <p:nvPr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39968" y="6114309"/>
            <a:ext cx="1509138" cy="60365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1594493-F54D-387D-9918-0B42EE11B3B7}"/>
              </a:ext>
            </a:extLst>
          </p:cNvPr>
          <p:cNvPicPr>
            <a:picLocks noChangeAspect="1"/>
          </p:cNvPicPr>
          <p:nvPr/>
        </p:nvPicPr>
        <p:blipFill>
          <a:blip r:embed="rId9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1805" y="6076364"/>
            <a:ext cx="2090909" cy="679545"/>
          </a:xfrm>
          <a:prstGeom prst="rect">
            <a:avLst/>
          </a:prstGeom>
        </p:spPr>
      </p:pic>
      <p:pic>
        <p:nvPicPr>
          <p:cNvPr id="1026" name="Picture 2" descr="S.S. Papadopulos &amp; Associates, Inc">
            <a:extLst>
              <a:ext uri="{FF2B5EF4-FFF2-40B4-BE49-F238E27FC236}">
                <a16:creationId xmlns:a16="http://schemas.microsoft.com/office/drawing/2014/main" id="{42D43CBA-118E-1191-78D5-1CD511F9A1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4673" b="17806"/>
          <a:stretch>
            <a:fillRect/>
          </a:stretch>
        </p:blipFill>
        <p:spPr bwMode="auto">
          <a:xfrm>
            <a:off x="4489732" y="5875287"/>
            <a:ext cx="1455414" cy="9827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Our structure | University Corporation for Atmospheric Research">
            <a:extLst>
              <a:ext uri="{FF2B5EF4-FFF2-40B4-BE49-F238E27FC236}">
                <a16:creationId xmlns:a16="http://schemas.microsoft.com/office/drawing/2014/main" id="{0C359B82-D400-A982-373B-DEFF28F0DB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168274" y="5975541"/>
            <a:ext cx="1828800" cy="6319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NTERA Incorporated | LinkedIn">
            <a:extLst>
              <a:ext uri="{FF2B5EF4-FFF2-40B4-BE49-F238E27FC236}">
                <a16:creationId xmlns:a16="http://schemas.microsoft.com/office/drawing/2014/main" id="{13AE53FF-D74C-1860-6A62-2123C4D5B77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654370" y="5833132"/>
            <a:ext cx="1415376" cy="982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TU Delft logo - Mediamatic">
            <a:extLst>
              <a:ext uri="{FF2B5EF4-FFF2-40B4-BE49-F238E27FC236}">
                <a16:creationId xmlns:a16="http://schemas.microsoft.com/office/drawing/2014/main" id="{C5841177-19BF-ACF3-CD76-BE7DE63271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369966" y="6008699"/>
            <a:ext cx="1455414" cy="565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671617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174D3448-160A-97A9-6001-FAE9F1AF61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17" y="4228"/>
            <a:ext cx="12176967" cy="6849544"/>
          </a:xfrm>
          <a:prstGeom prst="rect">
            <a:avLst/>
          </a:prstGeom>
        </p:spPr>
      </p:pic>
      <p:pic>
        <p:nvPicPr>
          <p:cNvPr id="2" name="Graphic 9" descr="Marker with solid fill">
            <a:extLst>
              <a:ext uri="{FF2B5EF4-FFF2-40B4-BE49-F238E27FC236}">
                <a16:creationId xmlns:a16="http://schemas.microsoft.com/office/drawing/2014/main" id="{D83745E7-6699-D2DE-A9C8-FA2C6D4336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90316" y="2665926"/>
            <a:ext cx="1146220" cy="1146220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DA213C5D-FAA9-180B-C8E0-6FDA6C809BDF}"/>
              </a:ext>
            </a:extLst>
          </p:cNvPr>
          <p:cNvSpPr/>
          <p:nvPr/>
        </p:nvSpPr>
        <p:spPr>
          <a:xfrm>
            <a:off x="6141077" y="2955701"/>
            <a:ext cx="218940" cy="23181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3</a:t>
            </a:r>
            <a:endParaRPr lang="nl-NL" dirty="0"/>
          </a:p>
        </p:txBody>
      </p:sp>
      <p:sp>
        <p:nvSpPr>
          <p:cNvPr id="5" name="Arc 4">
            <a:extLst>
              <a:ext uri="{FF2B5EF4-FFF2-40B4-BE49-F238E27FC236}">
                <a16:creationId xmlns:a16="http://schemas.microsoft.com/office/drawing/2014/main" id="{A34D3F4C-79CB-8152-CDB6-0A37A5EB8898}"/>
              </a:ext>
            </a:extLst>
          </p:cNvPr>
          <p:cNvSpPr/>
          <p:nvPr/>
        </p:nvSpPr>
        <p:spPr>
          <a:xfrm>
            <a:off x="6445876" y="3219716"/>
            <a:ext cx="547352" cy="592430"/>
          </a:xfrm>
          <a:prstGeom prst="arc">
            <a:avLst>
              <a:gd name="adj1" fmla="val 12796491"/>
              <a:gd name="adj2" fmla="val 222678"/>
            </a:avLst>
          </a:prstGeom>
          <a:ln w="57150">
            <a:solidFill>
              <a:srgbClr val="C00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49413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Afbeelding 3">
            <a:extLst>
              <a:ext uri="{FF2B5EF4-FFF2-40B4-BE49-F238E27FC236}">
                <a16:creationId xmlns:a16="http://schemas.microsoft.com/office/drawing/2014/main" id="{C582DC31-1C3F-BF84-9FE6-CD6622F0FC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98" y="8456"/>
            <a:ext cx="12176967" cy="6849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2865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C21022-8E81-4D35-BB66-30F7C9847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Introductions</a:t>
            </a:r>
          </a:p>
        </p:txBody>
      </p:sp>
    </p:spTree>
    <p:extLst>
      <p:ext uri="{BB962C8B-B14F-4D97-AF65-F5344CB8AC3E}">
        <p14:creationId xmlns:p14="http://schemas.microsoft.com/office/powerpoint/2010/main" val="7299863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Logistics</a:t>
            </a:r>
            <a:endParaRPr lang="en-GB" dirty="0"/>
          </a:p>
        </p:txBody>
      </p:sp>
      <p:graphicFrame>
        <p:nvGraphicFramePr>
          <p:cNvPr id="10" name="Content Placeholder 4">
            <a:extLst>
              <a:ext uri="{FF2B5EF4-FFF2-40B4-BE49-F238E27FC236}">
                <a16:creationId xmlns:a16="http://schemas.microsoft.com/office/drawing/2014/main" id="{D0E904C1-D5E3-CFA9-FC5E-C50C075305D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36907169"/>
              </p:ext>
            </p:extLst>
          </p:nvPr>
        </p:nvGraphicFramePr>
        <p:xfrm>
          <a:off x="2130875" y="1465994"/>
          <a:ext cx="8841925" cy="51751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6408720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C21022-8E81-4D35-BB66-30F7C9847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Pre-class </a:t>
            </a:r>
            <a:r>
              <a:rPr lang="nl-NL" dirty="0" err="1"/>
              <a:t>installation</a:t>
            </a:r>
            <a:endParaRPr lang="nl-NL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28CC53B-338A-1C99-14E1-44A2946E69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9881"/>
            <a:ext cx="10515600" cy="5165124"/>
          </a:xfrm>
        </p:spPr>
        <p:txBody>
          <a:bodyPr>
            <a:normAutofit/>
          </a:bodyPr>
          <a:lstStyle/>
          <a:p>
            <a:r>
              <a:rPr lang="nl-NL" sz="3200" dirty="0"/>
              <a:t>E-mail </a:t>
            </a:r>
            <a:r>
              <a:rPr lang="nl-NL" sz="3200" dirty="0" err="1"/>
              <a:t>about</a:t>
            </a:r>
            <a:r>
              <a:rPr lang="nl-NL" sz="3200" dirty="0"/>
              <a:t> setup? </a:t>
            </a:r>
          </a:p>
          <a:p>
            <a:r>
              <a:rPr lang="nl-NL" sz="3200" dirty="0" err="1"/>
              <a:t>pixi</a:t>
            </a:r>
            <a:r>
              <a:rPr lang="nl-NL" sz="3200" dirty="0"/>
              <a:t> </a:t>
            </a:r>
            <a:r>
              <a:rPr lang="nl-NL" sz="3200" dirty="0" err="1"/>
              <a:t>installation</a:t>
            </a:r>
            <a:r>
              <a:rPr lang="nl-NL" sz="3200" dirty="0"/>
              <a:t> </a:t>
            </a:r>
            <a:r>
              <a:rPr lang="nl-NL" sz="3200" dirty="0" err="1"/>
              <a:t>from</a:t>
            </a:r>
            <a:r>
              <a:rPr lang="nl-NL" sz="3200" dirty="0"/>
              <a:t> class </a:t>
            </a:r>
            <a:r>
              <a:rPr lang="nl-NL" sz="3200" dirty="0" err="1"/>
              <a:t>github</a:t>
            </a:r>
            <a:r>
              <a:rPr lang="nl-NL" sz="3200" dirty="0"/>
              <a:t>:</a:t>
            </a:r>
          </a:p>
          <a:p>
            <a:pPr marL="457200" lvl="1" indent="0">
              <a:buNone/>
            </a:pPr>
            <a:r>
              <a:rPr lang="nl-NL" sz="2800" dirty="0">
                <a:hlinkClick r:id="rId2"/>
              </a:rPr>
              <a:t>https://github.com/mjr-deltares/modflow-dsd25</a:t>
            </a:r>
            <a:endParaRPr lang="nl-NL" sz="2800" dirty="0"/>
          </a:p>
          <a:p>
            <a:pPr marL="457200" lvl="1" indent="0">
              <a:buNone/>
            </a:pPr>
            <a:endParaRPr lang="nl-NL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0556E37-DCB3-E8CC-CE28-6D839DA15C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160" y="4158501"/>
            <a:ext cx="6879683" cy="4732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FF524BB-6DE5-BFF1-D5ED-398E4582EF3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1776"/>
          <a:stretch>
            <a:fillRect/>
          </a:stretch>
        </p:blipFill>
        <p:spPr>
          <a:xfrm>
            <a:off x="1061159" y="5490492"/>
            <a:ext cx="6879683" cy="80290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DECE4D0-4387-1939-89D6-49D7BCABE53D}"/>
              </a:ext>
            </a:extLst>
          </p:cNvPr>
          <p:cNvSpPr txBox="1"/>
          <p:nvPr/>
        </p:nvSpPr>
        <p:spPr>
          <a:xfrm>
            <a:off x="1061159" y="4884825"/>
            <a:ext cx="1112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And then:</a:t>
            </a:r>
            <a:endParaRPr lang="nl-NL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DDD519-9CB4-1A5E-B53F-FA69AEACA178}"/>
              </a:ext>
            </a:extLst>
          </p:cNvPr>
          <p:cNvSpPr txBox="1"/>
          <p:nvPr/>
        </p:nvSpPr>
        <p:spPr>
          <a:xfrm>
            <a:off x="1061158" y="3581090"/>
            <a:ext cx="11644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Start with: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020936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9" name="Rectangle 2058">
            <a:extLst>
              <a:ext uri="{FF2B5EF4-FFF2-40B4-BE49-F238E27FC236}">
                <a16:creationId xmlns:a16="http://schemas.microsoft.com/office/drawing/2014/main" id="{3B47FC9C-2ED3-4100-A4EF-E8CDFEE106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65A16C03-A80E-E39E-F132-4E18E99332B6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Agenda</a:t>
            </a:r>
            <a:endParaRPr lang="nl-NL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00809478-631C-2717-ACA5-B02C21E04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9881"/>
            <a:ext cx="10515600" cy="5165124"/>
          </a:xfrm>
        </p:spPr>
        <p:txBody>
          <a:bodyPr>
            <a:noAutofit/>
          </a:bodyPr>
          <a:lstStyle/>
          <a:p>
            <a:r>
              <a:rPr lang="en-GB" sz="1800" dirty="0"/>
              <a:t>08:30 to 09:00 — </a:t>
            </a:r>
            <a:r>
              <a:rPr lang="en-GB" sz="1800" b="1" dirty="0"/>
              <a:t>ARRIVAL</a:t>
            </a:r>
            <a:endParaRPr lang="en-GB" sz="1800" dirty="0"/>
          </a:p>
          <a:p>
            <a:r>
              <a:rPr lang="en-GB" sz="1800" dirty="0"/>
              <a:t>09:00 to 09:10 — Welcome and Introductions (MR)</a:t>
            </a:r>
          </a:p>
          <a:p>
            <a:r>
              <a:rPr lang="en-GB" sz="1800" dirty="0"/>
              <a:t>09:10 to 09:40 — Overview of MODFLOW 6, newest capabilities, and ongoing developments (MR/CL)</a:t>
            </a:r>
          </a:p>
          <a:p>
            <a:r>
              <a:rPr lang="en-GB" sz="1800" dirty="0"/>
              <a:t>09:40 to 10:40 — Brief introduction to FloPy and </a:t>
            </a:r>
            <a:r>
              <a:rPr lang="en-GB" sz="1800" dirty="0" err="1"/>
              <a:t>pixi</a:t>
            </a:r>
            <a:r>
              <a:rPr lang="en-GB" sz="1800" dirty="0"/>
              <a:t>, installation of the class environment (JH/MR)</a:t>
            </a:r>
          </a:p>
          <a:p>
            <a:r>
              <a:rPr lang="en-GB" sz="1800" dirty="0"/>
              <a:t>10:40 to 11:00 — </a:t>
            </a:r>
            <a:r>
              <a:rPr lang="en-GB" sz="1800" b="1" dirty="0"/>
              <a:t>COFFEE BREAK</a:t>
            </a:r>
            <a:endParaRPr lang="en-GB" sz="1800" dirty="0"/>
          </a:p>
          <a:p>
            <a:r>
              <a:rPr lang="en-GB" sz="1800" dirty="0"/>
              <a:t>11:00 to 12:30 — In-depth density driven flow, adaptive </a:t>
            </a:r>
            <a:r>
              <a:rPr lang="en-GB" sz="1800" dirty="0" err="1"/>
              <a:t>timestepping</a:t>
            </a:r>
            <a:r>
              <a:rPr lang="en-GB" sz="1800" dirty="0"/>
              <a:t>, advection schemes, SWI (CL/ST)</a:t>
            </a:r>
          </a:p>
          <a:p>
            <a:r>
              <a:rPr lang="en-GB" sz="1800" dirty="0"/>
              <a:t>12:30 to 12:55 — Highlights: new and advanced features such as PRT, NetCDF, gridded input, ... (MR/CL)</a:t>
            </a:r>
          </a:p>
          <a:p>
            <a:r>
              <a:rPr lang="en-GB" sz="1800" dirty="0"/>
              <a:t>12.55 to 13.00 — </a:t>
            </a:r>
            <a:r>
              <a:rPr lang="en-GB" sz="1800" b="1" dirty="0"/>
              <a:t>GROUP PICTURE</a:t>
            </a:r>
            <a:endParaRPr lang="en-GB" sz="1800" dirty="0"/>
          </a:p>
          <a:p>
            <a:r>
              <a:rPr lang="en-GB" sz="1800" dirty="0"/>
              <a:t>13:00 to 14:00 — </a:t>
            </a:r>
            <a:r>
              <a:rPr lang="en-GB" sz="1800" b="1" dirty="0"/>
              <a:t>LUNCH BREAK</a:t>
            </a:r>
            <a:endParaRPr lang="en-GB" sz="1800" dirty="0"/>
          </a:p>
          <a:p>
            <a:r>
              <a:rPr lang="en-GB" sz="1800" dirty="0"/>
              <a:t>14:00 to 15:30 — Aquifer Thermal Energy Storage (ATES/WKO) example using GWE (MB)</a:t>
            </a:r>
          </a:p>
          <a:p>
            <a:r>
              <a:rPr lang="en-GB" sz="1800" dirty="0"/>
              <a:t>15:30 to 15:50 — </a:t>
            </a:r>
            <a:r>
              <a:rPr lang="en-GB" sz="1800" b="1" dirty="0"/>
              <a:t>COFFEE BREAK</a:t>
            </a:r>
            <a:endParaRPr lang="en-GB" sz="1800" dirty="0"/>
          </a:p>
          <a:p>
            <a:r>
              <a:rPr lang="en-GB" sz="1800" dirty="0"/>
              <a:t>15:50 to 16:50 — In-depth Numerical Solution: solver settings, diagnostics, best practices (JH/MR)</a:t>
            </a:r>
          </a:p>
          <a:p>
            <a:r>
              <a:rPr lang="en-GB" sz="1800" dirty="0"/>
              <a:t>16:50 to 17:00 — Closing (MR)</a:t>
            </a:r>
          </a:p>
          <a:p>
            <a:r>
              <a:rPr lang="en-GB" sz="1800" dirty="0"/>
              <a:t>17:00 to 18:00 — </a:t>
            </a:r>
            <a:r>
              <a:rPr lang="en-GB" sz="1800" b="1" dirty="0"/>
              <a:t>DRINKS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63685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2698</TotalTime>
  <Words>344</Words>
  <Application>Microsoft Office PowerPoint</Application>
  <PresentationFormat>Widescreen</PresentationFormat>
  <Paragraphs>39</Paragraphs>
  <Slides>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1_Office Theme</vt:lpstr>
      <vt:lpstr>Welcome Advanced MODFLOW Training Class, Delft, November 21, 2025</vt:lpstr>
      <vt:lpstr>PowerPoint Presentation</vt:lpstr>
      <vt:lpstr>PowerPoint Presentation</vt:lpstr>
      <vt:lpstr>Introductions</vt:lpstr>
      <vt:lpstr>Logistics</vt:lpstr>
      <vt:lpstr>Pre-class installation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</dc:title>
  <dc:creator>Martijn Russcher</dc:creator>
  <cp:lastModifiedBy>Martijn Russcher</cp:lastModifiedBy>
  <cp:revision>53</cp:revision>
  <dcterms:created xsi:type="dcterms:W3CDTF">2023-06-26T10:12:19Z</dcterms:created>
  <dcterms:modified xsi:type="dcterms:W3CDTF">2025-11-13T14:08:43Z</dcterms:modified>
</cp:coreProperties>
</file>