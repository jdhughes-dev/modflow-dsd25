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0"/>
  </p:notesMasterIdLst>
  <p:sldIdLst>
    <p:sldId id="284" r:id="rId3"/>
    <p:sldId id="281" r:id="rId4"/>
    <p:sldId id="282" r:id="rId5"/>
    <p:sldId id="279" r:id="rId6"/>
    <p:sldId id="280" r:id="rId7"/>
    <p:sldId id="283" r:id="rId8"/>
    <p:sldId id="257" r:id="rId9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5" autoAdjust="0"/>
    <p:restoredTop sz="72613" autoAdjust="0"/>
  </p:normalViewPr>
  <p:slideViewPr>
    <p:cSldViewPr snapToGrid="0">
      <p:cViewPr varScale="1">
        <p:scale>
          <a:sx n="77" d="100"/>
          <a:sy n="77" d="100"/>
        </p:scale>
        <p:origin x="1872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FDEBC5-B985-4DBD-971A-DE566E1C50A2}" type="datetimeFigureOut">
              <a:rPr lang="nl-NL" smtClean="0"/>
              <a:t>5-11-2025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AE3956-8282-4F35-BBF9-4A117B2EA08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64472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AE3956-8282-4F35-BBF9-4A117B2EA080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6406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sz="9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AE3956-8282-4F35-BBF9-4A117B2EA080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4480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23AD5-7EE1-89D1-CC15-61B0198DFB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8D90A8-E116-07ED-BA2E-C66CFD39F5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45E0E-43C3-F9FA-1A49-67FE04D47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3529F-F810-4FC9-BD64-0B4367090BD1}" type="datetimeFigureOut">
              <a:rPr lang="nl-NL" smtClean="0"/>
              <a:t>5-11-2025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C708C-D056-CAD0-0755-66ACBFD58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2D0C9-3C59-867A-945B-10FE5409F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F3C11-EB2C-44C6-9893-49804F457FE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66476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BDBCB-70B0-2B73-6940-DB0DF8468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81713-BABF-149F-543B-A52A432CB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76085-C6EA-7049-61BE-13AB5A67A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3529F-F810-4FC9-BD64-0B4367090BD1}" type="datetimeFigureOut">
              <a:rPr lang="nl-NL" smtClean="0"/>
              <a:t>5-11-2025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7A9E9-AD50-4E18-FB34-BFF00A3D4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11479-86B5-DC0F-110F-D9A57666F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F3C11-EB2C-44C6-9893-49804F457FE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00579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046FE-4713-3D40-6F13-886C31851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B1E0CD-8B54-6A1B-938B-8F73E465E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E2331-8208-01A3-0DDB-E27535B05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3529F-F810-4FC9-BD64-0B4367090BD1}" type="datetimeFigureOut">
              <a:rPr lang="nl-NL" smtClean="0"/>
              <a:t>5-11-2025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3F99A-C961-DC20-C4D2-63C470463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30D86-32E4-DB6E-EEBA-4B739BFFC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F3C11-EB2C-44C6-9893-49804F457FE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59245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38FDD-D015-3BF6-12D6-1ADEC99C2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3D290-084B-300D-2265-762F30F29A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0FC830-718B-CE3E-76A2-0263873867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C51E90-3326-75DC-5ACC-5C65752AA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3529F-F810-4FC9-BD64-0B4367090BD1}" type="datetimeFigureOut">
              <a:rPr lang="nl-NL" smtClean="0"/>
              <a:t>5-11-2025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2D9D72-FCB2-172A-147D-D092DCCB4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CDD306-CFD9-BA41-389D-4A3BE0635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F3C11-EB2C-44C6-9893-49804F457FE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33517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C2367-B205-743C-EB21-78E1CB68B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7A4F66-83A7-810A-20DF-CF79897F72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12A986-A376-C4CA-CA08-F63B17FA33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470D90-2245-435F-8F1F-9186D08DEF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EB158B-9FCF-A5A6-DC7C-87E754A436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1E53AB-2760-1C6D-A385-1281732F8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3529F-F810-4FC9-BD64-0B4367090BD1}" type="datetimeFigureOut">
              <a:rPr lang="nl-NL" smtClean="0"/>
              <a:t>5-11-2025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97D2C0-3DC4-4C2E-702F-717E08B1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DB3254-B818-23E0-3232-BCD4F40D5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F3C11-EB2C-44C6-9893-49804F457FE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49575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CF926-10A0-5CF3-92E9-FBD806F00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443CFD-89E4-5E9F-57BF-6564CE724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3529F-F810-4FC9-BD64-0B4367090BD1}" type="datetimeFigureOut">
              <a:rPr lang="nl-NL" smtClean="0"/>
              <a:t>5-11-2025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882BCA-F2CA-C9AC-4ACB-6C9ADE956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385B4F-5992-2C1E-20D0-52883872E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F3C11-EB2C-44C6-9893-49804F457FE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12129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25F4D2-E07C-D177-E81C-88CB9C4D7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3529F-F810-4FC9-BD64-0B4367090BD1}" type="datetimeFigureOut">
              <a:rPr lang="nl-NL" smtClean="0"/>
              <a:t>5-11-2025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12E6D1-80FF-0900-BEFD-7DD46CFDE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6E8498-2E7C-338D-BA89-618420322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F3C11-EB2C-44C6-9893-49804F457FE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11457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8BE6E-2E0F-5E6A-B83C-72E74D561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51338-D0FE-7E34-3C04-7C5EC208A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571DB1-B3EC-5CE3-240B-66E1AECF9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EA3F28-D873-D6F2-0097-C0637441D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3529F-F810-4FC9-BD64-0B4367090BD1}" type="datetimeFigureOut">
              <a:rPr lang="nl-NL" smtClean="0"/>
              <a:t>5-11-2025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C93D38-8793-199F-8F55-BA3D9F175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2A14E-2A0B-BEED-1600-85E83C710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F3C11-EB2C-44C6-9893-49804F457FE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40389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C90A6-0168-5FC5-3FB5-3D63149D3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8E7B21-08F7-F669-A827-399DC8C292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29A01A-BB47-6B53-DDE2-253F7D99D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5ECBBA-1E73-90FA-7E34-685277951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3529F-F810-4FC9-BD64-0B4367090BD1}" type="datetimeFigureOut">
              <a:rPr lang="nl-NL" smtClean="0"/>
              <a:t>5-11-2025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09B05B-834C-D609-F7A1-655A764BB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F5DE33-E19D-47F9-BD3D-AFD468266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F3C11-EB2C-44C6-9893-49804F457FE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7898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87B68-1567-6949-4E7C-11A22D19D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F63342-97B2-D17D-B0DA-5A2D2BD99E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C00C7-38BB-4AEE-15DC-19A51A068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3529F-F810-4FC9-BD64-0B4367090BD1}" type="datetimeFigureOut">
              <a:rPr lang="nl-NL" smtClean="0"/>
              <a:t>5-11-2025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B6F23-8EF7-46E8-1717-2287DBFA4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53639A-2AEA-8ACB-21C3-2C292C71E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F3C11-EB2C-44C6-9893-49804F457FE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90151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BFE5C5-60BF-1D86-E764-3C9E1D0756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0EE016-A535-87F9-BE94-9B8CA445CC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D0F71-1BDF-98CA-8741-D12289DB5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3529F-F810-4FC9-BD64-0B4367090BD1}" type="datetimeFigureOut">
              <a:rPr lang="nl-NL" smtClean="0"/>
              <a:t>5-11-2025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A66BF-0581-EFB7-CE01-21EC8FFC0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DE95F-8E74-00C5-6A32-7DC697AA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F3C11-EB2C-44C6-9893-49804F457FE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984295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3723E-B87D-0F45-04E1-C9063124F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1DEDE2-CE13-2E34-E0E9-0C665B70CE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8C686-048D-E33A-8100-6350B7D78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F1A7-46C0-614C-8973-2677197B1A3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5ADCD-AE60-27A3-ED95-6E8286B2B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87CDD-7A79-9E96-61E7-5858FA528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9780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ABDD1-B5FE-2DCC-0162-70893E14E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A5644-C265-01C2-B99B-ACCB35577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79746-BBAE-76F9-BF04-BAF50AD87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F1A7-46C0-614C-8973-2677197B1A3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DD785-5828-A30A-18C5-84396889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79A2E-5E2C-6F11-5F94-67F67CF8C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1358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B0804-9B67-F05C-AF2F-471F54A10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96274-5295-979D-5BAF-E7918E872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252FC-B6BA-4E11-7E01-EC0737B4C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F1A7-46C0-614C-8973-2677197B1A3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5EA5F-632F-A347-DD82-5A255EB54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D0A59-1962-DF5F-5E30-E4A2640EA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3422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24D8C-F582-8E6B-D949-A2E1FEE7C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E3CF3-E0FB-DC66-03A1-C4F364982F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0842CD-3DA4-4837-1358-061EFE03C8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C71512-80DA-6A28-FB0C-E6682620E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F1A7-46C0-614C-8973-2677197B1A3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C5B810-45D8-B339-DEB9-26258CC89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290976-BB5F-505E-017E-A8CD4C690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8578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F7846-4BA3-7D86-0493-25FB52BDE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1DEA3-48B2-A8D8-164D-A416268EB9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3468E0-CB41-8AA5-56A5-6EA8F11A6B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345DFA-F7B0-B434-A231-BF825D2C1B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291FFD-D6AE-8331-C935-997172C88F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6E87C5-F0E1-9709-95B0-7F94F953D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F1A7-46C0-614C-8973-2677197B1A3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25D591-57F4-02E4-0650-3ACEFF902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7C2320-58CA-78EF-F52A-C236622BA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1379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25B7C-5B04-80F6-47F9-5EEF0241D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A1E777-269E-EC3C-A89D-10A1EA55C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F1A7-46C0-614C-8973-2677197B1A3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FE170C-7719-22CE-CF35-2325AED40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2B1701-B14E-9AF4-F882-AFED2989C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5703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C63E09-291A-8AC3-2CF7-11D6D0A29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F1A7-46C0-614C-8973-2677197B1A3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1D3E21-DF0E-3BDB-3BC6-8BA7C7CC1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887D3E-459A-3E57-9DB7-37948096A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2440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D71EF-7124-0376-C475-280F9641A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F3FFE-CA03-1ED9-A80B-28209738F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529F15-C9FF-573B-4ED9-7E90C09891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13E9B1-F049-3E38-ECA9-CA35F25BB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F1A7-46C0-614C-8973-2677197B1A3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3078A5-6277-58E1-2C02-DF337F6EB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9DD66-F8A0-ABC3-B302-D01F53FA3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3773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C2396-F03A-1A21-D0B3-5834461FC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C58206-170F-A9F7-D5DF-82EBFED305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82F7C7-75EE-0482-33A6-261E1EB37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1EF866-F419-BFA8-27EE-058DAAF40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F1A7-46C0-614C-8973-2677197B1A3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9DCC34-B3B7-0305-5A7D-35DBAB5F9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8424B4-1271-1765-5872-899F474CC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8424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6C0A1-4253-113D-FA76-A1C36FC0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72972B-51DE-095D-19E4-C62C7623AF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47D91-1582-9FAF-0418-5A86AEFED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F1A7-46C0-614C-8973-2677197B1A3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256EA-F551-2245-D5DE-637314D08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FB3AA-8C46-A4FD-7A5C-3BFDE6D7F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8163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B38ABB-7383-E4D5-8D5B-58C466791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D9DF1E-4AE3-9E4A-1C6E-DE3FBAAB0C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8AAEF-D1E5-D11E-A008-EAA846EFF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F1A7-46C0-614C-8973-2677197B1A3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61E69-0C6D-245F-51AE-192C97AA7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98535-B0D4-7860-3589-4BE096E92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5902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8009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196E57-1131-E79C-582E-F00BB1BC2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E1C40B-1B77-C30D-E582-F69AC1ADF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93A24-F5C5-E60D-E0FA-18FFA3522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03529F-F810-4FC9-BD64-0B4367090BD1}" type="datetimeFigureOut">
              <a:rPr lang="nl-NL" smtClean="0"/>
              <a:t>5-11-2025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7CC9C-A7F1-AF1B-F8F8-C5DCB11D1A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53747C-69C2-6460-0BEF-BFCF65F40B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FF3C11-EB2C-44C6-9893-49804F457FE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62561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09CED6-39D3-B548-CFDD-D791FA2F9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FA89EA-C453-2A5C-AABB-7A07DC7D84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71985-4958-3DBF-18DE-9F93762A94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E7F1A7-46C0-614C-8973-2677197B1A3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DDB3A-9A4E-60BC-E9AF-33FBAF8783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4A7D9-DA80-B130-ADE5-0E284C458A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962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12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tiff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jr-deltares/modflow-dsd25" TargetMode="Externa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98F3DEE-0E56-499F-AFAE-C2DA7C2C8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B65E49-5337-40E3-9DBD-146D14EA07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-2"/>
            <a:ext cx="12192000" cy="4522610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59509F-94DC-4952-A3B5-1EFAA2F524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68276" y="5"/>
            <a:ext cx="4023722" cy="4522603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B1AF2CB-1EFE-4962-A8DC-2D3CE4736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7200" y="-5"/>
            <a:ext cx="11743606" cy="4513113"/>
          </a:xfrm>
          <a:prstGeom prst="rect">
            <a:avLst/>
          </a:prstGeom>
          <a:gradFill>
            <a:gsLst>
              <a:gs pos="0">
                <a:srgbClr val="000000">
                  <a:alpha val="8000"/>
                </a:srgbClr>
              </a:gs>
              <a:gs pos="76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232531E-9E20-48D1-A119-C05304D9E8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8807" y="-9506"/>
            <a:ext cx="12200801" cy="4532114"/>
          </a:xfrm>
          <a:prstGeom prst="rect">
            <a:avLst/>
          </a:prstGeom>
          <a:gradFill>
            <a:gsLst>
              <a:gs pos="0">
                <a:srgbClr val="000000">
                  <a:alpha val="51000"/>
                </a:srgbClr>
              </a:gs>
              <a:gs pos="74000">
                <a:schemeClr val="accent1">
                  <a:alpha val="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AA014B-79A8-4BEC-893F-423182880E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"/>
            <a:ext cx="12192000" cy="2679585"/>
          </a:xfrm>
          <a:prstGeom prst="rect">
            <a:avLst/>
          </a:prstGeom>
          <a:gradFill>
            <a:gsLst>
              <a:gs pos="20000">
                <a:schemeClr val="accent1">
                  <a:alpha val="9000"/>
                </a:schemeClr>
              </a:gs>
              <a:gs pos="100000">
                <a:srgbClr val="000000">
                  <a:alpha val="67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7C841F-61F5-DAA4-A6DE-7FF64055D8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7467" y="617924"/>
            <a:ext cx="9617105" cy="1999602"/>
          </a:xfrm>
        </p:spPr>
        <p:txBody>
          <a:bodyPr>
            <a:normAutofit/>
          </a:bodyPr>
          <a:lstStyle/>
          <a:p>
            <a:pPr algn="l"/>
            <a:r>
              <a:rPr lang="en-GB" sz="4800" dirty="0">
                <a:solidFill>
                  <a:srgbClr val="FFFFFF"/>
                </a:solidFill>
              </a:rPr>
              <a:t>Welcome</a:t>
            </a:r>
            <a:br>
              <a:rPr lang="en-GB" sz="4400" dirty="0">
                <a:solidFill>
                  <a:srgbClr val="FFFFFF"/>
                </a:solidFill>
              </a:rPr>
            </a:br>
            <a:r>
              <a:rPr lang="en-GB" sz="2400" i="1" dirty="0">
                <a:solidFill>
                  <a:srgbClr val="D27961"/>
                </a:solidFill>
              </a:rPr>
              <a:t>Advanced MODFLOW Training Class,</a:t>
            </a:r>
            <a:br>
              <a:rPr lang="en-GB" sz="2400" i="1" dirty="0">
                <a:solidFill>
                  <a:srgbClr val="D27961"/>
                </a:solidFill>
              </a:rPr>
            </a:br>
            <a:r>
              <a:rPr lang="en-GB" sz="2400" i="1" dirty="0">
                <a:solidFill>
                  <a:srgbClr val="D27961"/>
                </a:solidFill>
              </a:rPr>
              <a:t>Delft, November 21, 2025</a:t>
            </a:r>
            <a:endParaRPr lang="en-US" sz="4400" i="1" dirty="0">
              <a:solidFill>
                <a:srgbClr val="D27961"/>
              </a:solidFill>
            </a:endParaRPr>
          </a:p>
        </p:txBody>
      </p:sp>
      <p:pic>
        <p:nvPicPr>
          <p:cNvPr id="4" name="Picture 3" descr="tom_analog_1978">
            <a:extLst>
              <a:ext uri="{FF2B5EF4-FFF2-40B4-BE49-F238E27FC236}">
                <a16:creationId xmlns:a16="http://schemas.microsoft.com/office/drawing/2014/main" id="{9DF2818B-5E55-8A54-9FBB-C1900F8B02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 b="-1"/>
          <a:stretch/>
        </p:blipFill>
        <p:spPr bwMode="auto">
          <a:xfrm>
            <a:off x="643890" y="3463577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2282932" h="2282932">
                <a:moveTo>
                  <a:pt x="1141466" y="0"/>
                </a:moveTo>
                <a:cubicBezTo>
                  <a:pt x="1771880" y="0"/>
                  <a:pt x="2282932" y="511052"/>
                  <a:pt x="2282932" y="1141466"/>
                </a:cubicBezTo>
                <a:cubicBezTo>
                  <a:pt x="2282932" y="1771880"/>
                  <a:pt x="1771880" y="2282932"/>
                  <a:pt x="1141466" y="2282932"/>
                </a:cubicBezTo>
                <a:cubicBezTo>
                  <a:pt x="511052" y="2282932"/>
                  <a:pt x="0" y="1771880"/>
                  <a:pt x="0" y="1141466"/>
                </a:cubicBezTo>
                <a:cubicBezTo>
                  <a:pt x="0" y="511052"/>
                  <a:pt x="511052" y="0"/>
                  <a:pt x="1141466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325E5A-396D-C81C-3138-791E727FD6A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"/>
          <a:stretch/>
        </p:blipFill>
        <p:spPr>
          <a:xfrm>
            <a:off x="9457201" y="3408487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2282932" h="2282932">
                <a:moveTo>
                  <a:pt x="1141466" y="0"/>
                </a:moveTo>
                <a:cubicBezTo>
                  <a:pt x="1771880" y="0"/>
                  <a:pt x="2282932" y="511052"/>
                  <a:pt x="2282932" y="1141466"/>
                </a:cubicBezTo>
                <a:cubicBezTo>
                  <a:pt x="2282932" y="1771880"/>
                  <a:pt x="1771880" y="2282932"/>
                  <a:pt x="1141466" y="2282932"/>
                </a:cubicBezTo>
                <a:cubicBezTo>
                  <a:pt x="511052" y="2282932"/>
                  <a:pt x="0" y="1771880"/>
                  <a:pt x="0" y="1141466"/>
                </a:cubicBezTo>
                <a:cubicBezTo>
                  <a:pt x="0" y="511052"/>
                  <a:pt x="511052" y="0"/>
                  <a:pt x="1141466" y="0"/>
                </a:cubicBezTo>
                <a:close/>
              </a:path>
            </a:pathLst>
          </a:cu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79E263A-F2F8-EE67-3A6D-BE65604A121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6"/>
          <a:stretch/>
        </p:blipFill>
        <p:spPr>
          <a:xfrm>
            <a:off x="2847218" y="3418612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2282932" h="2282932">
                <a:moveTo>
                  <a:pt x="1141466" y="0"/>
                </a:moveTo>
                <a:cubicBezTo>
                  <a:pt x="1771880" y="0"/>
                  <a:pt x="2282932" y="511052"/>
                  <a:pt x="2282932" y="1141466"/>
                </a:cubicBezTo>
                <a:cubicBezTo>
                  <a:pt x="2282932" y="1771880"/>
                  <a:pt x="1771880" y="2282932"/>
                  <a:pt x="1141466" y="2282932"/>
                </a:cubicBezTo>
                <a:cubicBezTo>
                  <a:pt x="511052" y="2282932"/>
                  <a:pt x="0" y="1771880"/>
                  <a:pt x="0" y="1141466"/>
                </a:cubicBezTo>
                <a:cubicBezTo>
                  <a:pt x="0" y="511052"/>
                  <a:pt x="511052" y="0"/>
                  <a:pt x="1141466" y="0"/>
                </a:cubicBezTo>
                <a:close/>
              </a:path>
            </a:pathLst>
          </a:cu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8A0F38C4-7853-7251-341E-9B82FBAF7D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253874" y="3468179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2282932" h="2282932">
                <a:moveTo>
                  <a:pt x="1141466" y="0"/>
                </a:moveTo>
                <a:cubicBezTo>
                  <a:pt x="1771880" y="0"/>
                  <a:pt x="2282932" y="511052"/>
                  <a:pt x="2282932" y="1141466"/>
                </a:cubicBezTo>
                <a:cubicBezTo>
                  <a:pt x="2282932" y="1771880"/>
                  <a:pt x="1771880" y="2282932"/>
                  <a:pt x="1141466" y="2282932"/>
                </a:cubicBezTo>
                <a:cubicBezTo>
                  <a:pt x="511052" y="2282932"/>
                  <a:pt x="0" y="1771880"/>
                  <a:pt x="0" y="1141466"/>
                </a:cubicBezTo>
                <a:cubicBezTo>
                  <a:pt x="0" y="511052"/>
                  <a:pt x="511052" y="0"/>
                  <a:pt x="1141466" y="0"/>
                </a:cubicBez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BF489E-BE54-C6D1-010E-3497C6205886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50546" y="3463577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2282932" h="2282932">
                <a:moveTo>
                  <a:pt x="1141466" y="0"/>
                </a:moveTo>
                <a:cubicBezTo>
                  <a:pt x="1771880" y="0"/>
                  <a:pt x="2282932" y="511052"/>
                  <a:pt x="2282932" y="1141466"/>
                </a:cubicBezTo>
                <a:cubicBezTo>
                  <a:pt x="2282932" y="1771880"/>
                  <a:pt x="1771880" y="2282932"/>
                  <a:pt x="1141466" y="2282932"/>
                </a:cubicBezTo>
                <a:cubicBezTo>
                  <a:pt x="511052" y="2282932"/>
                  <a:pt x="0" y="1771880"/>
                  <a:pt x="0" y="1141466"/>
                </a:cubicBezTo>
                <a:cubicBezTo>
                  <a:pt x="0" y="511052"/>
                  <a:pt x="511052" y="0"/>
                  <a:pt x="1141466" y="0"/>
                </a:cubicBezTo>
                <a:close/>
              </a:path>
            </a:pathLst>
          </a:cu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0FE480D-7084-BC59-7CE6-28DE940FAED2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39968" y="6114309"/>
            <a:ext cx="1509138" cy="6036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1594493-F54D-387D-9918-0B42EE11B3B7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805" y="6076364"/>
            <a:ext cx="2090909" cy="679545"/>
          </a:xfrm>
          <a:prstGeom prst="rect">
            <a:avLst/>
          </a:prstGeom>
        </p:spPr>
      </p:pic>
      <p:pic>
        <p:nvPicPr>
          <p:cNvPr id="1026" name="Picture 2" descr="S.S. Papadopulos &amp; Associates, Inc">
            <a:extLst>
              <a:ext uri="{FF2B5EF4-FFF2-40B4-BE49-F238E27FC236}">
                <a16:creationId xmlns:a16="http://schemas.microsoft.com/office/drawing/2014/main" id="{42D43CBA-118E-1191-78D5-1CD511F9A1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673" b="17806"/>
          <a:stretch>
            <a:fillRect/>
          </a:stretch>
        </p:blipFill>
        <p:spPr bwMode="auto">
          <a:xfrm>
            <a:off x="4489732" y="5875287"/>
            <a:ext cx="1455414" cy="982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ur structure | University Corporation for Atmospheric Research">
            <a:extLst>
              <a:ext uri="{FF2B5EF4-FFF2-40B4-BE49-F238E27FC236}">
                <a16:creationId xmlns:a16="http://schemas.microsoft.com/office/drawing/2014/main" id="{0C359B82-D400-A982-373B-DEFF28F0DB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68274" y="5975541"/>
            <a:ext cx="1828800" cy="631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NTERA Incorporated | LinkedIn">
            <a:extLst>
              <a:ext uri="{FF2B5EF4-FFF2-40B4-BE49-F238E27FC236}">
                <a16:creationId xmlns:a16="http://schemas.microsoft.com/office/drawing/2014/main" id="{13AE53FF-D74C-1860-6A62-2123C4D5B7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54370" y="5833132"/>
            <a:ext cx="1415376" cy="982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TU Delft logo - Mediamatic">
            <a:extLst>
              <a:ext uri="{FF2B5EF4-FFF2-40B4-BE49-F238E27FC236}">
                <a16:creationId xmlns:a16="http://schemas.microsoft.com/office/drawing/2014/main" id="{C5841177-19BF-ACF3-CD76-BE7DE63271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69966" y="6008699"/>
            <a:ext cx="1455414" cy="565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7161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174D3448-160A-97A9-6001-FAE9F1AF61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17" y="4228"/>
            <a:ext cx="12176967" cy="6849544"/>
          </a:xfrm>
          <a:prstGeom prst="rect">
            <a:avLst/>
          </a:prstGeom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F9983C15-F686-60C6-E649-37A5160E906C}"/>
              </a:ext>
            </a:extLst>
          </p:cNvPr>
          <p:cNvSpPr/>
          <p:nvPr/>
        </p:nvSpPr>
        <p:spPr>
          <a:xfrm rot="12269173">
            <a:off x="8145488" y="2903837"/>
            <a:ext cx="1569308" cy="525162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EBB46289-A1D9-E5FE-0E2B-22DB1E4F64A0}"/>
              </a:ext>
            </a:extLst>
          </p:cNvPr>
          <p:cNvSpPr/>
          <p:nvPr/>
        </p:nvSpPr>
        <p:spPr>
          <a:xfrm rot="18831412">
            <a:off x="5159274" y="4093988"/>
            <a:ext cx="1569308" cy="525162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30317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C582DC31-1C3F-BF84-9FE6-CD6622F0FC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98" y="8456"/>
            <a:ext cx="12176967" cy="684954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C4BAA4B-7116-8E46-E92B-FAB247E083CA}"/>
              </a:ext>
            </a:extLst>
          </p:cNvPr>
          <p:cNvSpPr/>
          <p:nvPr/>
        </p:nvSpPr>
        <p:spPr>
          <a:xfrm>
            <a:off x="4508500" y="850900"/>
            <a:ext cx="3175000" cy="2247900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5A3B7BF-BCC2-3F37-3D3E-07ACE1AB91F4}"/>
              </a:ext>
            </a:extLst>
          </p:cNvPr>
          <p:cNvSpPr/>
          <p:nvPr/>
        </p:nvSpPr>
        <p:spPr>
          <a:xfrm>
            <a:off x="4330700" y="3314700"/>
            <a:ext cx="965200" cy="939800"/>
          </a:xfrm>
          <a:prstGeom prst="ellipse">
            <a:avLst/>
          </a:pr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6B483B1-9207-DCB8-C7AC-754FAB3084BA}"/>
              </a:ext>
            </a:extLst>
          </p:cNvPr>
          <p:cNvSpPr/>
          <p:nvPr/>
        </p:nvSpPr>
        <p:spPr>
          <a:xfrm>
            <a:off x="9359900" y="4851400"/>
            <a:ext cx="965200" cy="939800"/>
          </a:xfrm>
          <a:prstGeom prst="ellipse">
            <a:avLst/>
          </a:pr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3385604-096D-09B6-DD26-7B68105CDA51}"/>
              </a:ext>
            </a:extLst>
          </p:cNvPr>
          <p:cNvSpPr/>
          <p:nvPr/>
        </p:nvSpPr>
        <p:spPr>
          <a:xfrm>
            <a:off x="10770032" y="4851400"/>
            <a:ext cx="965200" cy="939800"/>
          </a:xfrm>
          <a:prstGeom prst="ellipse">
            <a:avLst/>
          </a:pr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62402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21022-8E81-4D35-BB66-30F7C984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Introductions</a:t>
            </a:r>
          </a:p>
        </p:txBody>
      </p:sp>
    </p:spTree>
    <p:extLst>
      <p:ext uri="{BB962C8B-B14F-4D97-AF65-F5344CB8AC3E}">
        <p14:creationId xmlns:p14="http://schemas.microsoft.com/office/powerpoint/2010/main" val="729986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21022-8E81-4D35-BB66-30F7C984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WiFi</a:t>
            </a:r>
            <a:endParaRPr lang="nl-NL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28CC53B-338A-1C99-14E1-44A2946E6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9881"/>
            <a:ext cx="10515600" cy="5165124"/>
          </a:xfrm>
        </p:spPr>
        <p:txBody>
          <a:bodyPr>
            <a:normAutofit/>
          </a:bodyPr>
          <a:lstStyle/>
          <a:p>
            <a:r>
              <a:rPr lang="nl-NL" sz="3200" dirty="0"/>
              <a:t>See email sent (</a:t>
            </a:r>
            <a:r>
              <a:rPr lang="nl-NL" sz="3200" dirty="0" err="1"/>
              <a:t>Did</a:t>
            </a:r>
            <a:r>
              <a:rPr lang="nl-NL" sz="3200" dirty="0"/>
              <a:t> </a:t>
            </a:r>
            <a:r>
              <a:rPr lang="nl-NL" sz="3200" dirty="0" err="1"/>
              <a:t>everyone</a:t>
            </a:r>
            <a:r>
              <a:rPr lang="nl-NL" sz="3200" dirty="0"/>
              <a:t> get </a:t>
            </a:r>
            <a:r>
              <a:rPr lang="nl-NL" sz="3200" dirty="0" err="1"/>
              <a:t>it</a:t>
            </a:r>
            <a:r>
              <a:rPr lang="nl-NL" sz="3200" dirty="0"/>
              <a:t>?)</a:t>
            </a:r>
          </a:p>
          <a:p>
            <a:r>
              <a:rPr lang="nl-NL" sz="3200" dirty="0"/>
              <a:t>Or, scan </a:t>
            </a:r>
            <a:r>
              <a:rPr lang="nl-NL" sz="3200" dirty="0" err="1"/>
              <a:t>the</a:t>
            </a:r>
            <a:r>
              <a:rPr lang="nl-NL" sz="3200" dirty="0"/>
              <a:t> QR code</a:t>
            </a:r>
          </a:p>
          <a:p>
            <a:r>
              <a:rPr lang="nl-NL" sz="3200" dirty="0"/>
              <a:t>Or, go </a:t>
            </a:r>
            <a:r>
              <a:rPr lang="nl-NL" sz="3200" dirty="0" err="1"/>
              <a:t>to</a:t>
            </a:r>
            <a:r>
              <a:rPr lang="nl-NL" sz="3200" dirty="0"/>
              <a:t> eduroam.deltares.nl</a:t>
            </a:r>
          </a:p>
          <a:p>
            <a:endParaRPr lang="nl-NL" sz="4000" dirty="0"/>
          </a:p>
          <a:p>
            <a:pPr marL="0" indent="0">
              <a:buNone/>
            </a:pPr>
            <a:r>
              <a:rPr lang="nl-NL" sz="4400" dirty="0">
                <a:latin typeface="+mj-lt"/>
                <a:ea typeface="+mj-ea"/>
                <a:cs typeface="+mj-cs"/>
              </a:rPr>
              <a:t>Pre-class </a:t>
            </a:r>
            <a:r>
              <a:rPr lang="nl-NL" sz="4400" dirty="0" err="1">
                <a:latin typeface="+mj-lt"/>
                <a:ea typeface="+mj-ea"/>
                <a:cs typeface="+mj-cs"/>
              </a:rPr>
              <a:t>Installations</a:t>
            </a:r>
            <a:endParaRPr lang="nl-NL" sz="4400" dirty="0">
              <a:latin typeface="+mj-lt"/>
              <a:ea typeface="+mj-ea"/>
              <a:cs typeface="+mj-cs"/>
            </a:endParaRPr>
          </a:p>
          <a:p>
            <a:r>
              <a:rPr lang="nl-NL" sz="3200" dirty="0"/>
              <a:t>E-mail </a:t>
            </a:r>
            <a:r>
              <a:rPr lang="nl-NL" sz="3200" dirty="0" err="1"/>
              <a:t>about</a:t>
            </a:r>
            <a:r>
              <a:rPr lang="nl-NL" sz="3200" dirty="0"/>
              <a:t> setup </a:t>
            </a:r>
          </a:p>
          <a:p>
            <a:r>
              <a:rPr lang="nl-NL" sz="3200" dirty="0" err="1"/>
              <a:t>pixi</a:t>
            </a:r>
            <a:r>
              <a:rPr lang="nl-NL" sz="3200" dirty="0"/>
              <a:t> </a:t>
            </a:r>
            <a:r>
              <a:rPr lang="nl-NL" sz="3200" dirty="0" err="1"/>
              <a:t>installation</a:t>
            </a:r>
            <a:r>
              <a:rPr lang="nl-NL" sz="3200" dirty="0"/>
              <a:t> </a:t>
            </a:r>
            <a:r>
              <a:rPr lang="nl-NL" sz="3200" dirty="0" err="1"/>
              <a:t>from</a:t>
            </a:r>
            <a:r>
              <a:rPr lang="nl-NL" sz="3200" dirty="0"/>
              <a:t> class </a:t>
            </a:r>
            <a:r>
              <a:rPr lang="nl-NL" sz="3200" dirty="0" err="1"/>
              <a:t>github</a:t>
            </a:r>
            <a:r>
              <a:rPr lang="nl-NL" sz="3200" dirty="0"/>
              <a:t>:</a:t>
            </a:r>
          </a:p>
          <a:p>
            <a:pPr marL="457200" lvl="1" indent="0">
              <a:buNone/>
            </a:pPr>
            <a:r>
              <a:rPr lang="nl-NL" sz="2800" dirty="0">
                <a:hlinkClick r:id="rId2"/>
              </a:rPr>
              <a:t>https://github.com/mjr-deltares/modflow-dsd25</a:t>
            </a:r>
            <a:endParaRPr lang="nl-NL" sz="2800" dirty="0"/>
          </a:p>
          <a:p>
            <a:pPr marL="457200" lvl="1" indent="0">
              <a:buNone/>
            </a:pPr>
            <a:endParaRPr lang="nl-NL" sz="2800" dirty="0"/>
          </a:p>
        </p:txBody>
      </p:sp>
    </p:spTree>
    <p:extLst>
      <p:ext uri="{BB962C8B-B14F-4D97-AF65-F5344CB8AC3E}">
        <p14:creationId xmlns:p14="http://schemas.microsoft.com/office/powerpoint/2010/main" val="4020936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21022-8E81-4D35-BB66-30F7C984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Badge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28CC53B-338A-1C99-14E1-44A2946E6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9881"/>
            <a:ext cx="10515600" cy="5165124"/>
          </a:xfrm>
        </p:spPr>
        <p:txBody>
          <a:bodyPr>
            <a:normAutofit/>
          </a:bodyPr>
          <a:lstStyle/>
          <a:p>
            <a:r>
              <a:rPr lang="nl-NL" sz="3200" dirty="0" err="1"/>
              <a:t>Please</a:t>
            </a:r>
            <a:r>
              <a:rPr lang="nl-NL" sz="3200" dirty="0"/>
              <a:t> </a:t>
            </a:r>
            <a:r>
              <a:rPr lang="nl-NL" sz="3200" dirty="0" err="1"/>
              <a:t>pick</a:t>
            </a:r>
            <a:r>
              <a:rPr lang="nl-NL" sz="3200" dirty="0"/>
              <a:t> up </a:t>
            </a:r>
            <a:r>
              <a:rPr lang="nl-NL" sz="3200" dirty="0" err="1"/>
              <a:t>your</a:t>
            </a:r>
            <a:r>
              <a:rPr lang="nl-NL" sz="3200" dirty="0"/>
              <a:t> badge in </a:t>
            </a:r>
            <a:r>
              <a:rPr lang="nl-NL" sz="3200" dirty="0" err="1"/>
              <a:t>the</a:t>
            </a:r>
            <a:r>
              <a:rPr lang="nl-NL" sz="3200" dirty="0"/>
              <a:t> coffee break, </a:t>
            </a:r>
            <a:r>
              <a:rPr lang="nl-NL" sz="3200" dirty="0" err="1"/>
              <a:t>if</a:t>
            </a:r>
            <a:r>
              <a:rPr lang="nl-NL" sz="3200" dirty="0"/>
              <a:t> </a:t>
            </a:r>
            <a:r>
              <a:rPr lang="nl-NL" sz="3200" dirty="0" err="1"/>
              <a:t>you</a:t>
            </a:r>
            <a:r>
              <a:rPr lang="nl-NL" sz="3200" dirty="0"/>
              <a:t> </a:t>
            </a:r>
            <a:r>
              <a:rPr lang="nl-NL" sz="3200" dirty="0" err="1"/>
              <a:t>haven’t</a:t>
            </a:r>
            <a:r>
              <a:rPr lang="nl-NL" sz="3200" dirty="0"/>
              <a:t> </a:t>
            </a:r>
            <a:r>
              <a:rPr lang="nl-NL" sz="3200" dirty="0" err="1"/>
              <a:t>already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11265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9" name="Rectangle 2058">
            <a:extLst>
              <a:ext uri="{FF2B5EF4-FFF2-40B4-BE49-F238E27FC236}">
                <a16:creationId xmlns:a16="http://schemas.microsoft.com/office/drawing/2014/main" id="{3B47FC9C-2ED3-4100-A4EF-E8CDFEE10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5A16C03-A80E-E39E-F132-4E18E99332B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Agenda</a:t>
            </a:r>
            <a:endParaRPr lang="nl-NL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0809478-631C-2717-ACA5-B02C21E04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9881"/>
            <a:ext cx="10515600" cy="5165124"/>
          </a:xfrm>
        </p:spPr>
        <p:txBody>
          <a:bodyPr>
            <a:noAutofit/>
          </a:bodyPr>
          <a:lstStyle/>
          <a:p>
            <a:r>
              <a:rPr lang="en-GB" sz="1800" dirty="0"/>
              <a:t>08:30 to 09:00 — </a:t>
            </a:r>
            <a:r>
              <a:rPr lang="en-GB" sz="1800" b="1" dirty="0"/>
              <a:t>ARRIVAL</a:t>
            </a:r>
            <a:endParaRPr lang="en-GB" sz="1800" dirty="0"/>
          </a:p>
          <a:p>
            <a:r>
              <a:rPr lang="en-GB" sz="1800" dirty="0"/>
              <a:t>09:00 to 09:10 — Welcome and Introductions (MR)</a:t>
            </a:r>
          </a:p>
          <a:p>
            <a:r>
              <a:rPr lang="en-GB" sz="1800" dirty="0"/>
              <a:t>09:10 to 09:40 — Overview of MODFLOW 6, newest capabilities, and ongoing developments (MR/CL)</a:t>
            </a:r>
          </a:p>
          <a:p>
            <a:r>
              <a:rPr lang="en-GB" sz="1800" dirty="0"/>
              <a:t>09:40 to 10:40 — Brief introduction to FloPy and </a:t>
            </a:r>
            <a:r>
              <a:rPr lang="en-GB" sz="1800" dirty="0" err="1"/>
              <a:t>pixi</a:t>
            </a:r>
            <a:r>
              <a:rPr lang="en-GB" sz="1800" dirty="0"/>
              <a:t>, installation of the class environment (JH/MR)</a:t>
            </a:r>
          </a:p>
          <a:p>
            <a:r>
              <a:rPr lang="en-GB" sz="1800" dirty="0"/>
              <a:t>10:40 to 11:00 — </a:t>
            </a:r>
            <a:r>
              <a:rPr lang="en-GB" sz="1800" b="1" dirty="0"/>
              <a:t>COFFEE BREAK</a:t>
            </a:r>
            <a:endParaRPr lang="en-GB" sz="1800" dirty="0"/>
          </a:p>
          <a:p>
            <a:r>
              <a:rPr lang="en-GB" sz="1800" dirty="0"/>
              <a:t>11:00 to 12:30 — In-depth density driven flow, adaptive </a:t>
            </a:r>
            <a:r>
              <a:rPr lang="en-GB" sz="1800" dirty="0" err="1"/>
              <a:t>timestepping</a:t>
            </a:r>
            <a:r>
              <a:rPr lang="en-GB" sz="1800" dirty="0"/>
              <a:t>, advection schemes, SWI (CL/ST)</a:t>
            </a:r>
          </a:p>
          <a:p>
            <a:r>
              <a:rPr lang="en-GB" sz="1800" dirty="0"/>
              <a:t>12:30 to 12:55 — Highlights: new and advanced features such as PRT, NetCDF, gridded input, ... (MR/CL)</a:t>
            </a:r>
          </a:p>
          <a:p>
            <a:r>
              <a:rPr lang="en-GB" sz="1800" dirty="0"/>
              <a:t>12.55 to 13.00 — </a:t>
            </a:r>
            <a:r>
              <a:rPr lang="en-GB" sz="1800" b="1" dirty="0"/>
              <a:t>GROUP PICTURE</a:t>
            </a:r>
            <a:endParaRPr lang="en-GB" sz="1800" dirty="0"/>
          </a:p>
          <a:p>
            <a:r>
              <a:rPr lang="en-GB" sz="1800" dirty="0"/>
              <a:t>13:00 to 14:00 — </a:t>
            </a:r>
            <a:r>
              <a:rPr lang="en-GB" sz="1800" b="1" dirty="0"/>
              <a:t>LUNCH BREAK</a:t>
            </a:r>
            <a:endParaRPr lang="en-GB" sz="1800" dirty="0"/>
          </a:p>
          <a:p>
            <a:r>
              <a:rPr lang="en-GB" sz="1800" dirty="0"/>
              <a:t>14:00 to 15:30 — Aquifer Thermal Energy Storage (ATES/WKO) example using GWE (MB)</a:t>
            </a:r>
          </a:p>
          <a:p>
            <a:r>
              <a:rPr lang="en-GB" sz="1800" dirty="0"/>
              <a:t>15:30 to 15:50 — </a:t>
            </a:r>
            <a:r>
              <a:rPr lang="en-GB" sz="1800" b="1" dirty="0"/>
              <a:t>COFFEE BREAK</a:t>
            </a:r>
            <a:endParaRPr lang="en-GB" sz="1800" dirty="0"/>
          </a:p>
          <a:p>
            <a:r>
              <a:rPr lang="en-GB" sz="1800" dirty="0"/>
              <a:t>15:50 to 16:50 — In-depth Numerical Solution: solver settings, diagnostics, best practices (JH/MR)</a:t>
            </a:r>
          </a:p>
          <a:p>
            <a:r>
              <a:rPr lang="en-GB" sz="1800" dirty="0"/>
              <a:t>16:50 to 17:00 — Closing (MR)</a:t>
            </a:r>
          </a:p>
          <a:p>
            <a:r>
              <a:rPr lang="en-GB" sz="1800" dirty="0"/>
              <a:t>17:00 to 18:00 — </a:t>
            </a:r>
            <a:r>
              <a:rPr lang="en-GB" sz="1800" b="1" dirty="0"/>
              <a:t>DRINKS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63685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2652</TotalTime>
  <Words>256</Words>
  <Application>Microsoft Office PowerPoint</Application>
  <PresentationFormat>Widescreen</PresentationFormat>
  <Paragraphs>30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1_Office Theme</vt:lpstr>
      <vt:lpstr>Welcome Advanced MODFLOW Training Class, Delft, November 21, 2025</vt:lpstr>
      <vt:lpstr>PowerPoint Presentation</vt:lpstr>
      <vt:lpstr>PowerPoint Presentation</vt:lpstr>
      <vt:lpstr>Introductions</vt:lpstr>
      <vt:lpstr>WiFi</vt:lpstr>
      <vt:lpstr>Badge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Martijn Russcher</dc:creator>
  <cp:lastModifiedBy>Martijn Russcher</cp:lastModifiedBy>
  <cp:revision>50</cp:revision>
  <dcterms:created xsi:type="dcterms:W3CDTF">2023-06-26T10:12:19Z</dcterms:created>
  <dcterms:modified xsi:type="dcterms:W3CDTF">2025-11-05T08:26:16Z</dcterms:modified>
</cp:coreProperties>
</file>